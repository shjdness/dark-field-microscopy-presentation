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7a6c8bfbf24f1d" /><Relationship Type="http://schemas.openxmlformats.org/officeDocument/2006/relationships/extended-properties" Target="/docProps/app.xml" Id="Rd3b462cf1127499e" /><Relationship Type="http://schemas.openxmlformats.org/officeDocument/2006/relationships/officeDocument" Target="/ppt/presentation.xml" Id="R0bf27216bc8a4e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63ecb24f7f48f1"/>
  </p:sldMasterIdLst>
  <p:notesMasterIdLst>
    <p:notesMasterId xmlns:r="http://schemas.openxmlformats.org/officeDocument/2006/relationships" r:id="Rf8fa96f0ede548e5"/>
  </p:notesMasterIdLst>
  <p:sldIdLst>
    <p:sldId xmlns:r="http://schemas.openxmlformats.org/officeDocument/2006/relationships" id="256" r:id="Rd5d00c99ddba4583"/>
    <p:sldId xmlns:r="http://schemas.openxmlformats.org/officeDocument/2006/relationships" id="257" r:id="R9fbb38dd67914b5b"/>
    <p:sldId xmlns:r="http://schemas.openxmlformats.org/officeDocument/2006/relationships" id="258" r:id="R5e253a68d4a24d6e"/>
    <p:sldId xmlns:r="http://schemas.openxmlformats.org/officeDocument/2006/relationships" id="259" r:id="Rc57a80df95c24b88"/>
    <p:sldId xmlns:r="http://schemas.openxmlformats.org/officeDocument/2006/relationships" id="260" r:id="R26eca22fbcbe456c"/>
    <p:sldId xmlns:r="http://schemas.openxmlformats.org/officeDocument/2006/relationships" id="261" r:id="R20fd98a6a5c34eb9"/>
    <p:sldId xmlns:r="http://schemas.openxmlformats.org/officeDocument/2006/relationships" id="262" r:id="Rc622db7dbc0b4df7"/>
    <p:sldId xmlns:r="http://schemas.openxmlformats.org/officeDocument/2006/relationships" id="263" r:id="R0eb1936e0ac24b74"/>
    <p:sldId xmlns:r="http://schemas.openxmlformats.org/officeDocument/2006/relationships" id="264" r:id="Re3166bae20954451"/>
    <p:sldId xmlns:r="http://schemas.openxmlformats.org/officeDocument/2006/relationships" id="265" r:id="R9c59a1559c784c18"/>
    <p:sldId xmlns:r="http://schemas.openxmlformats.org/officeDocument/2006/relationships" id="266" r:id="R1ca59e65651a4a46"/>
    <p:sldId xmlns:r="http://schemas.openxmlformats.org/officeDocument/2006/relationships" id="267" r:id="Rae94be7b6c7c4421"/>
    <p:sldId xmlns:r="http://schemas.openxmlformats.org/officeDocument/2006/relationships" id="268" r:id="R8ef0a71446894849"/>
    <p:sldId xmlns:r="http://schemas.openxmlformats.org/officeDocument/2006/relationships" id="269" r:id="Rf5fa33472e274dfa"/>
    <p:sldId xmlns:r="http://schemas.openxmlformats.org/officeDocument/2006/relationships" id="270" r:id="R379f122196f84a26"/>
    <p:sldId xmlns:r="http://schemas.openxmlformats.org/officeDocument/2006/relationships" id="271" r:id="R63b8f0c45c2c4514"/>
    <p:sldId xmlns:r="http://schemas.openxmlformats.org/officeDocument/2006/relationships" id="272" r:id="R151b7f5dcadd4a44"/>
    <p:sldId xmlns:r="http://schemas.openxmlformats.org/officeDocument/2006/relationships" id="273" r:id="Re81f4f5264dd4f72"/>
    <p:sldId xmlns:r="http://schemas.openxmlformats.org/officeDocument/2006/relationships" id="274" r:id="Rce9ebb26769045ef"/>
    <p:sldId xmlns:r="http://schemas.openxmlformats.org/officeDocument/2006/relationships" id="275" r:id="R97c367e64c7640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5a652d0c6a470c" /><Relationship Type="http://schemas.openxmlformats.org/officeDocument/2006/relationships/slideMaster" Target="/ppt/slideMasters/slideMaster1.xml" Id="R1963ecb24f7f48f1" /><Relationship Type="http://schemas.openxmlformats.org/officeDocument/2006/relationships/notesMaster" Target="/ppt/notesMasters/notesMaster1.xml" Id="Rf8fa96f0ede548e5" /><Relationship Type="http://schemas.openxmlformats.org/officeDocument/2006/relationships/presProps" Target="/ppt/presProps.xml" Id="Rb10a7e5212c942ff" /><Relationship Type="http://schemas.openxmlformats.org/officeDocument/2006/relationships/viewProps" Target="/ppt/viewProps.xml" Id="R5192b8b79c0c4ced" /><Relationship Type="http://schemas.openxmlformats.org/officeDocument/2006/relationships/tableStyles" Target="/ppt/tableStyles.xml" Id="Rc9da2bceabbf4bd4" /><Relationship Type="http://schemas.openxmlformats.org/officeDocument/2006/relationships/slide" Target="/ppt/slides/slide1.xml" Id="Rd5d00c99ddba4583" /><Relationship Type="http://schemas.openxmlformats.org/officeDocument/2006/relationships/slide" Target="/ppt/slides/slide2.xml" Id="R9fbb38dd67914b5b" /><Relationship Type="http://schemas.openxmlformats.org/officeDocument/2006/relationships/slide" Target="/ppt/slides/slide3.xml" Id="R5e253a68d4a24d6e" /><Relationship Type="http://schemas.openxmlformats.org/officeDocument/2006/relationships/slide" Target="/ppt/slides/slide4.xml" Id="Rc57a80df95c24b88" /><Relationship Type="http://schemas.openxmlformats.org/officeDocument/2006/relationships/slide" Target="/ppt/slides/slide5.xml" Id="R26eca22fbcbe456c" /><Relationship Type="http://schemas.openxmlformats.org/officeDocument/2006/relationships/slide" Target="/ppt/slides/slide6.xml" Id="R20fd98a6a5c34eb9" /><Relationship Type="http://schemas.openxmlformats.org/officeDocument/2006/relationships/slide" Target="/ppt/slides/slide7.xml" Id="Rc622db7dbc0b4df7" /><Relationship Type="http://schemas.openxmlformats.org/officeDocument/2006/relationships/slide" Target="/ppt/slides/slide8.xml" Id="R0eb1936e0ac24b74" /><Relationship Type="http://schemas.openxmlformats.org/officeDocument/2006/relationships/slide" Target="/ppt/slides/slide9.xml" Id="Re3166bae20954451" /><Relationship Type="http://schemas.openxmlformats.org/officeDocument/2006/relationships/slide" Target="/ppt/slides/slide10.xml" Id="R9c59a1559c784c18" /><Relationship Type="http://schemas.openxmlformats.org/officeDocument/2006/relationships/slide" Target="/ppt/slides/slide11.xml" Id="R1ca59e65651a4a46" /><Relationship Type="http://schemas.openxmlformats.org/officeDocument/2006/relationships/slide" Target="/ppt/slides/slide12.xml" Id="Rae94be7b6c7c4421" /><Relationship Type="http://schemas.openxmlformats.org/officeDocument/2006/relationships/slide" Target="/ppt/slides/slide13.xml" Id="R8ef0a71446894849" /><Relationship Type="http://schemas.openxmlformats.org/officeDocument/2006/relationships/slide" Target="/ppt/slides/slide14.xml" Id="Rf5fa33472e274dfa" /><Relationship Type="http://schemas.openxmlformats.org/officeDocument/2006/relationships/slide" Target="/ppt/slides/slide15.xml" Id="R379f122196f84a26" /><Relationship Type="http://schemas.openxmlformats.org/officeDocument/2006/relationships/slide" Target="/ppt/slides/slide16.xml" Id="R63b8f0c45c2c4514" /><Relationship Type="http://schemas.openxmlformats.org/officeDocument/2006/relationships/slide" Target="/ppt/slides/slide17.xml" Id="R151b7f5dcadd4a44" /><Relationship Type="http://schemas.openxmlformats.org/officeDocument/2006/relationships/slide" Target="/ppt/slides/slide18.xml" Id="Re81f4f5264dd4f72" /><Relationship Type="http://schemas.openxmlformats.org/officeDocument/2006/relationships/slide" Target="/ppt/slides/slide19.xml" Id="Rce9ebb26769045ef" /><Relationship Type="http://schemas.openxmlformats.org/officeDocument/2006/relationships/slide" Target="/ppt/slides/slide20.xml" Id="R97c367e64c7640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5fb9b8f9fd4a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b9fc8d642d42a0" /><Relationship Type="http://schemas.openxmlformats.org/officeDocument/2006/relationships/notesMaster" Target="/ppt/notesMasters/notesMaster1.xml" Id="Rd505379406074f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d59bbcb3b74552" /><Relationship Type="http://schemas.openxmlformats.org/officeDocument/2006/relationships/notesMaster" Target="/ppt/notesMasters/notesMaster1.xml" Id="R974548a450e846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ba50ef2cec4cb9" /><Relationship Type="http://schemas.openxmlformats.org/officeDocument/2006/relationships/notesMaster" Target="/ppt/notesMasters/notesMaster1.xml" Id="Rf53efe2673ee46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9b7a2b5d914b64" /><Relationship Type="http://schemas.openxmlformats.org/officeDocument/2006/relationships/notesMaster" Target="/ppt/notesMasters/notesMaster1.xml" Id="R78d1e22e158544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668e08c3b84350" /><Relationship Type="http://schemas.openxmlformats.org/officeDocument/2006/relationships/notesMaster" Target="/ppt/notesMasters/notesMaster1.xml" Id="R362b6c5f785f41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1d7a0f59ac420d" /><Relationship Type="http://schemas.openxmlformats.org/officeDocument/2006/relationships/notesMaster" Target="/ppt/notesMasters/notesMaster1.xml" Id="R9a29f640389344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51d1e7efb54fc7" /><Relationship Type="http://schemas.openxmlformats.org/officeDocument/2006/relationships/notesMaster" Target="/ppt/notesMasters/notesMaster1.xml" Id="R390ec91cca1340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e269c0b4be465f" /><Relationship Type="http://schemas.openxmlformats.org/officeDocument/2006/relationships/notesMaster" Target="/ppt/notesMasters/notesMaster1.xml" Id="R9e0425aa08514d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0fa92d8a2d4fa1" /><Relationship Type="http://schemas.openxmlformats.org/officeDocument/2006/relationships/notesMaster" Target="/ppt/notesMasters/notesMaster1.xml" Id="Rfab122d34f3044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eb72b7918e4991" /><Relationship Type="http://schemas.openxmlformats.org/officeDocument/2006/relationships/notesMaster" Target="/ppt/notesMasters/notesMaster1.xml" Id="R7375b0c3c0674be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2a9c9e7444409e" /><Relationship Type="http://schemas.openxmlformats.org/officeDocument/2006/relationships/notesMaster" Target="/ppt/notesMasters/notesMaster1.xml" Id="R7c963eabf7fc40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5c7292736b4a96" /><Relationship Type="http://schemas.openxmlformats.org/officeDocument/2006/relationships/notesMaster" Target="/ppt/notesMasters/notesMaster1.xml" Id="Rd96f0899045d44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31d6851a41f434a" /><Relationship Type="http://schemas.openxmlformats.org/officeDocument/2006/relationships/notesMaster" Target="/ppt/notesMasters/notesMaster1.xml" Id="Ra2dcb72ce629471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a512a70c1cf4d79" /><Relationship Type="http://schemas.openxmlformats.org/officeDocument/2006/relationships/notesMaster" Target="/ppt/notesMasters/notesMaster1.xml" Id="Rc036c143d61041f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bb1b023cb7f45c7" /><Relationship Type="http://schemas.openxmlformats.org/officeDocument/2006/relationships/notesMaster" Target="/ppt/notesMasters/notesMaster1.xml" Id="R75e5c42c93844fa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2e72848a1234ea1" /><Relationship Type="http://schemas.openxmlformats.org/officeDocument/2006/relationships/notesMaster" Target="/ppt/notesMasters/notesMaster1.xml" Id="R22296006c383468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d6fdfbf5dce4f8c" /><Relationship Type="http://schemas.openxmlformats.org/officeDocument/2006/relationships/notesMaster" Target="/ppt/notesMasters/notesMaster1.xml" Id="R678e10f3a9574e2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9a2bd19c2284236" /><Relationship Type="http://schemas.openxmlformats.org/officeDocument/2006/relationships/notesMaster" Target="/ppt/notesMasters/notesMaster1.xml" Id="R2dfe0b6aa2664dc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92ed3a0a7944b36" /><Relationship Type="http://schemas.openxmlformats.org/officeDocument/2006/relationships/notesMaster" Target="/ppt/notesMasters/notesMaster1.xml" Id="Rac325453c3be4f7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8ba9cab87b746eb" /><Relationship Type="http://schemas.openxmlformats.org/officeDocument/2006/relationships/notesMaster" Target="/ppt/notesMasters/notesMaster1.xml" Id="Rb8d5ae497e7c4b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开场不要先下定义。先说：这不是一台“把灯调暗”的显微镜，而是一种重新安排照明和收集方向的方法。随后用第2页观星类比建立直觉。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来源与图片：</a:t>
            </a:r>
          </a:p>
          <a:p xmlns:a="http://schemas.openxmlformats.org/drawingml/2006/main">
            <a:r>
              <a:t>- 视觉风格参考：SciFig Conference Presentation Template — Minimal Navy, https://github.com/scifig-ai/scientific-poster-and-presentation-templates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问式开场：‘星星真的在城市里变少了吗？’答案是否定的，变亮的是背景。暗场的共同思想正是背景抑制。但要立刻说明：天文学中的星体是自发光对象，显微样品多是把照明光散射进物镜。更严格的天文类比其实是日冕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这一页先不讲结构，只把问题说透：亮场并非‘看不见’，而是强背景占用了动态范围。暗场优先解决的是可见度和信噪比，而不是突破衍射极限。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来源与图片：</a:t>
            </a:r>
          </a:p>
          <a:p xmlns:a="http://schemas.openxmlformats.org/drawingml/2006/main">
            <a:r>
              <a:t>- Davidson &amp; Abramowitz (2002), https://www.microscopyu.com/pdfs/Davidson_and_Abramowitz_2002.pdf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暗场图像最吸引人的地方是‘亮点很多’，但课堂上要把视觉冲击和科学含义分开：亮点代表有光被散射进物镜，不自动等于粒子真实尺寸或化学身份。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来源与图片：</a:t>
            </a:r>
          </a:p>
          <a:p xmlns:a="http://schemas.openxmlformats.org/drawingml/2006/main">
            <a:r>
              <a:t>- Davidson &amp; Abramowitz (2002), https://www.microscopyu.com/pdfs/Davidson_and_Abramowitz_2002.pdf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讲述节奏：造光锥—绕开物镜—样品改向。只要观众记住‘没有样品时光进不了物镜，有样品时散射光才能进来’，后续所有结构变化都能理解。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来源与图片：</a:t>
            </a:r>
          </a:p>
          <a:p xmlns:a="http://schemas.openxmlformats.org/drawingml/2006/main">
            <a:r>
              <a:t>- Davidson &amp; Abramowitz (2002), https://www.microscopyu.com/pdfs/Davidson_and_Abramowitz_2002.pdf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这是全场最重要的干货页。注意表述为照明环的最小数值孔径大于物镜NA。若只说‘聚光镜NA更大’并不充分，因为关键是内侧边缘也要在物镜接受角之外。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来源与图片：</a:t>
            </a:r>
          </a:p>
          <a:p xmlns:a="http://schemas.openxmlformats.org/drawingml/2006/main">
            <a:r>
              <a:t>- Davidson &amp; Abramowitz (2002), https://www.microscopyu.com/pdfs/Davidson_and_Abramowitz_2002.pdf</a:t>
            </a:r>
          </a:p>
          <a:p xmlns:a="http://schemas.openxmlformats.org/drawingml/2006/main">
            <a:r>
              <a:t>- Nikon MicroscopyU, Darkfield Illumination, https://www.microscopyu.com/techniques/stereomicroscopy/darkfield-illumination</a:t>
            </a:r>
          </a:p>
          <a:p xmlns:a="http://schemas.openxmlformats.org/drawingml/2006/main">
            <a:r>
              <a:t>
图形修订说明：橙色高角度照明从下方到达样品；未散射光沿原方向继续传播并绕开物镜入口瞳；蓝色散射光从样品出发并进入物镜。该图用于说明照明环最小NA大于物镜NA的几何条件。
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这一页解决‘它长什么样’。普通透射显微镜加中央遮光片可以做低NA暗场；高NA成像需要专用暗场聚光镜及更严格的对中。升级模块不是暗场成立的必要条件。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来源与图片：</a:t>
            </a:r>
          </a:p>
          <a:p xmlns:a="http://schemas.openxmlformats.org/drawingml/2006/main">
            <a:r>
              <a:t>- Nikon MicroscopyU, Darkfield Illumination, https://www.microscopyu.com/techniques/stereomicroscopy/darkfield-illumination</a:t>
            </a:r>
          </a:p>
          <a:p xmlns:a="http://schemas.openxmlformats.org/drawingml/2006/main">
            <a:r>
              <a:t>
本页讲法：从1号光源开始，沿光轴依次讲到6号相机或目镜。左侧为AI生成的教学结构示意图，不代表某一具体商品型号；编号、部件名称和功能为可编辑PowerPoint元素。建议按1至6顺序讲解，不依赖动画或超链接，在任何播放环境下都能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不要把三种结构讲成三台互不相关的仪器。它们共享同一原则：尽量把照明光和收集光在角度或空间上分开。透射适合透明样品，反射适合不透明表面，TIR把背景压缩到界面附近。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来源与图片：</a:t>
            </a:r>
          </a:p>
          <a:p xmlns:a="http://schemas.openxmlformats.org/drawingml/2006/main">
            <a:r>
              <a:t>- Davidson &amp; Abramowitz (2002), https://www.microscopyu.com/pdfs/Davidson_and_Abramowitz_2002.pdf</a:t>
            </a:r>
          </a:p>
          <a:p xmlns:a="http://schemas.openxmlformats.org/drawingml/2006/main">
            <a:r>
              <a:t>- Li et al. (2017), doi:10.3788/COL201715.081202</a:t>
            </a:r>
          </a:p>
          <a:p xmlns:a="http://schemas.openxmlformats.org/drawingml/2006/main">
            <a:r>
              <a:t>- Enoki et al. (2012), doi:10.1371/journal.pone.0049208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这一页解释为什么暗场既灵敏又困难：抑制背景后可以看见弱散射，但粒子变小时信号下降非常快。d^6只用于Rayleigh小颗粒近似，不能当普适定律。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来源与图片：</a:t>
            </a:r>
          </a:p>
          <a:p xmlns:a="http://schemas.openxmlformats.org/drawingml/2006/main">
            <a:r>
              <a:t>- Olson et al. (2015), doi:10.1039/C4CS00131A</a:t>
            </a:r>
          </a:p>
          <a:p xmlns:a="http://schemas.openxmlformats.org/drawingml/2006/main">
            <a:r>
              <a:t>- Meng et al. (2021), doi:10.1021/acsphotonics.1c01268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这是纠正常见误解的关键页。可以用一句话收束：看见一个4 nm颗粒的散射点，不等于用4 nm空间分辨率看见了颗粒形状。暗场提升检测对比度，定位还依赖光子数和拟合，分辨率仍受成像系统限制。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来源与图片：</a:t>
            </a:r>
          </a:p>
          <a:p xmlns:a="http://schemas.openxmlformats.org/drawingml/2006/main">
            <a:r>
              <a:t>- Priest et al. (2021), doi:10.1021/acs.chemrev.1c00271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把发展史放在基本原理之后是更适合课堂的顺序。观众先理解‘为什么要隔离照明’，才看得懂每一代技术在解决哪一种背景。不要只按年份罗列仪器名称。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来源与图片：</a:t>
            </a:r>
          </a:p>
          <a:p xmlns:a="http://schemas.openxmlformats.org/drawingml/2006/main">
            <a:r>
              <a:t>- Siedentopf &amp; Zsigmondy (1902), doi:10.1002/andp.19023150102</a:t>
            </a:r>
          </a:p>
          <a:p xmlns:a="http://schemas.openxmlformats.org/drawingml/2006/main">
            <a:r>
              <a:t>- Priest et al. (2021), doi:10.1021/acs.chemrev.1c00271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讲这张数据图时强调‘可定量’来自标定曲线，而不是仅凭亮点漂亮。论文的1.2×10^4 PFU/mL是按背景加3倍标准差外推的检出限；PFU是感染性单位，不等于颗粒总数。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来源与图片：</a:t>
            </a:r>
          </a:p>
          <a:p xmlns:a="http://schemas.openxmlformats.org/drawingml/2006/main">
            <a:r>
              <a:t>- Enoki et al. (2012), doi:10.1371/journal.pone.0049208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先指出传统TIR要把照明耦合进高NA物镜，背景和视场受限。作者用两块微镜把入射和收集分开。20 nm金颗粒可在6微秒曝光下追踪；4 nm指位置波动形成的定位分布直径，不等于物镜的4 nm分辨率。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来源与图片：</a:t>
            </a:r>
          </a:p>
          <a:p xmlns:a="http://schemas.openxmlformats.org/drawingml/2006/main">
            <a:r>
              <a:t>- Meng et al. (2021), doi:10.1021/acsphotonics.1c01268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高光谱暗场的价值是把二维图片扩展成x-y-λ数据立方体。颜色可与等离激元共振、聚集或局部折射率相关，但不是物体的‘真实颜色’，且必须做系统响应校正。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来源与图片：</a:t>
            </a:r>
          </a:p>
          <a:p xmlns:a="http://schemas.openxmlformats.org/drawingml/2006/main">
            <a:r>
              <a:t>- Zamora-Perez et al. (2018), doi:10.3390/ma11020243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这张图能把反射暗场讲得非常具体：环形斜照明照向超光滑表面，完好区镜面反射不进物镜，浅划痕把光散射回来。论文针对深度低于50 nm的浅划痕，报告约82%检出率；这是特定样本和算法条件下的结果。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来源与图片：</a:t>
            </a:r>
          </a:p>
          <a:p xmlns:a="http://schemas.openxmlformats.org/drawingml/2006/main">
            <a:r>
              <a:t>- Li et al. (2017), doi:10.3788/COL201715.081202</a:t>
            </a:r>
          </a:p>
          <a:p xmlns:a="http://schemas.openxmlformats.org/drawingml/2006/main">
            <a:r>
              <a:t>- Open PDF: https://researching.cn/ArticlePdf/m00005/2017/15/8/COL201715081202.pdf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这页用于回答‘为什么不用别的方法’。暗场最适合无标记、弱散射、快速筛查；需要分子身份时通常结合荧光，需要极弱信号时可用干涉散射，但系统与背景模型更复杂。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来源与图片：</a:t>
            </a:r>
          </a:p>
          <a:p xmlns:a="http://schemas.openxmlformats.org/drawingml/2006/main">
            <a:r>
              <a:t>- Priest et al. (2021), doi:10.1021/acs.chemrev.1c00271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如果汇报时间紧，这页至少讲前两项。暗场把所有散射体都变亮，因此清洁和对照不是附属操作，而是暗场成像质量的一部分。定量强度或颜色时还要固定照明、焦面、曝光并做校正。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来源与图片：</a:t>
            </a:r>
          </a:p>
          <a:p xmlns:a="http://schemas.openxmlformats.org/drawingml/2006/main">
            <a:r>
              <a:t>- Davidson &amp; Abramowitz (2002), https://www.microscopyu.com/pdfs/Davidson_and_Abramowitz_2002.pdf</a:t>
            </a:r>
          </a:p>
          <a:p xmlns:a="http://schemas.openxmlformats.org/drawingml/2006/main">
            <a:r>
              <a:t>- Olson et al. (2015), doi:10.1039/C4CS00131A</a:t>
            </a:r>
          </a:p>
          <a:p xmlns:a="http://schemas.openxmlformats.org/drawingml/2006/main">
            <a:r>
              <a:t>- Zamora-Perez et al. (2018), doi:10.3390/ma11020243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避免空泛地说‘智能化、集成化、产业化’。每条展望都必须回答：现有瓶颈是什么、技术路线是什么、用什么指标验证进步。课堂上可重点讲‘从可见到可定量’。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来源与图片：</a:t>
            </a:r>
          </a:p>
          <a:p xmlns:a="http://schemas.openxmlformats.org/drawingml/2006/main">
            <a:r>
              <a:t>- Priest et al. (2021), doi:10.1021/acs.chemrev.1c00271</a:t>
            </a:r>
          </a:p>
          <a:p xmlns:a="http://schemas.openxmlformats.org/drawingml/2006/main">
            <a:r>
              <a:t>- Li et al. (2025), doi:10.1021/acsami.5c17222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结尾回扣第2页。可以停顿后说：暗场最值得记住的设计思想，是先控制背景，再谈信号。随后感谢听众，并把第20页留作答疑时的文献入口。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参考文献页不必逐条念。答疑时可根据问题跳回对应案例。PLOS ONE与Materials为开放获取来源；其他图用于课堂演示时仍保留完整出处，若公开上传需再次核对许可。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来源与图片：</a:t>
            </a:r>
          </a:p>
          <a:p xmlns:a="http://schemas.openxmlformats.org/drawingml/2006/main">
            <a:r>
              <a:t>- Local bibliography: A资料区/00_导读与索引/references.bib</a:t>
            </a:r>
          </a:p>
          <a:p xmlns:a="http://schemas.openxmlformats.org/drawingml/2006/main">
            <a:r>
              <a:t>- Template: https://github.com/scifig-ai/scientific-poster-and-presentation-templates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7458f682dc4f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3595156c6e49ef" /><Relationship Type="http://schemas.openxmlformats.org/officeDocument/2006/relationships/slideLayout" Target="/ppt/slideLayouts/slideLayout1.xml" Id="Rcedd7720d89645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dd7720d89645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8647694ae49f2" /><Relationship Type="http://schemas.openxmlformats.org/officeDocument/2006/relationships/notesSlide" Target="/ppt/notesSlides/notesSlide1.xml" Id="Re74726c574cf4f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6f4995abc4f25" /><Relationship Type="http://schemas.openxmlformats.org/officeDocument/2006/relationships/image" Target="/ppt/media/image.png" Id="Rae842fcf8d194c2f" /><Relationship Type="http://schemas.openxmlformats.org/officeDocument/2006/relationships/notesSlide" Target="/ppt/notesSlides/notesSlide2.xml" Id="Rbee03ea89f0246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240a83edd4637" /><Relationship Type="http://schemas.openxmlformats.org/officeDocument/2006/relationships/notesSlide" Target="/ppt/notesSlides/notesSlide3.xml" Id="Rb00fda06311d4d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6f35f6bf34c91" /><Relationship Type="http://schemas.openxmlformats.org/officeDocument/2006/relationships/image" Target="/ppt/media/image2.png" Id="R9255a179614e45c6" /><Relationship Type="http://schemas.openxmlformats.org/officeDocument/2006/relationships/notesSlide" Target="/ppt/notesSlides/notesSlide4.xml" Id="R98f99aeb72c44d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d1355ebfe4b2a" /><Relationship Type="http://schemas.openxmlformats.org/officeDocument/2006/relationships/image" Target="/ppt/media/image3.png" Id="R1e50a4899e134a27" /><Relationship Type="http://schemas.openxmlformats.org/officeDocument/2006/relationships/notesSlide" Target="/ppt/notesSlides/notesSlide5.xml" Id="Rfacb40517c7346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9d9e0228048f0" /><Relationship Type="http://schemas.openxmlformats.org/officeDocument/2006/relationships/notesSlide" Target="/ppt/notesSlides/notesSlide6.xml" Id="R7881cb26148943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3058c2f844fc3" /><Relationship Type="http://schemas.openxmlformats.org/officeDocument/2006/relationships/image" Target="/ppt/media/image4.png" Id="Rd9a2a63b5aca424a" /><Relationship Type="http://schemas.openxmlformats.org/officeDocument/2006/relationships/notesSlide" Target="/ppt/notesSlides/notesSlide7.xml" Id="Rcbeffcc826e544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bc5ca5aff4222" /><Relationship Type="http://schemas.openxmlformats.org/officeDocument/2006/relationships/image" Target="/ppt/media/image3.png" Id="R4714f6af7309424c" /><Relationship Type="http://schemas.openxmlformats.org/officeDocument/2006/relationships/image" Target="/ppt/media/image5.png" Id="Rd751749382544fc1" /><Relationship Type="http://schemas.openxmlformats.org/officeDocument/2006/relationships/image" Target="/ppt/media/image6.png" Id="R85744496224845bc" /><Relationship Type="http://schemas.openxmlformats.org/officeDocument/2006/relationships/notesSlide" Target="/ppt/notesSlides/notesSlide8.xml" Id="R6374d39af8a74c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d65b528a44099" /><Relationship Type="http://schemas.openxmlformats.org/officeDocument/2006/relationships/notesSlide" Target="/ppt/notesSlides/notesSlide9.xml" Id="R96ff96c868b942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1a93ae9f04e39" /><Relationship Type="http://schemas.openxmlformats.org/officeDocument/2006/relationships/notesSlide" Target="/ppt/notesSlides/notesSlide10.xml" Id="R96a223315d7b40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8c8a085644ac5" /><Relationship Type="http://schemas.openxmlformats.org/officeDocument/2006/relationships/notesSlide" Target="/ppt/notesSlides/notesSlide11.xml" Id="Rddf76234f96d41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54ae49476419d" /><Relationship Type="http://schemas.openxmlformats.org/officeDocument/2006/relationships/image" Target="/ppt/media/image7.png" Id="R469b6a00239444ed" /><Relationship Type="http://schemas.openxmlformats.org/officeDocument/2006/relationships/notesSlide" Target="/ppt/notesSlides/notesSlide12.xml" Id="Ra4f2db6ad42942d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7daf6d713438e" /><Relationship Type="http://schemas.openxmlformats.org/officeDocument/2006/relationships/image" Target="/ppt/media/image8.png" Id="Ra2c502c7f4fa4183" /><Relationship Type="http://schemas.openxmlformats.org/officeDocument/2006/relationships/image" Target="/ppt/media/image9.png" Id="R69f1c32c11ab444d" /><Relationship Type="http://schemas.openxmlformats.org/officeDocument/2006/relationships/notesSlide" Target="/ppt/notesSlides/notesSlide13.xml" Id="R4ecbc9b8d3414e7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c260749c44b9b" /><Relationship Type="http://schemas.openxmlformats.org/officeDocument/2006/relationships/image" Target="/ppt/media/image10.png" Id="R590f63e9f97f4f3d" /><Relationship Type="http://schemas.openxmlformats.org/officeDocument/2006/relationships/notesSlide" Target="/ppt/notesSlides/notesSlide14.xml" Id="R043e7ad16075436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917b00f3534608" /><Relationship Type="http://schemas.openxmlformats.org/officeDocument/2006/relationships/image" Target="/ppt/media/image5.png" Id="Re435ef20efa54510" /><Relationship Type="http://schemas.openxmlformats.org/officeDocument/2006/relationships/notesSlide" Target="/ppt/notesSlides/notesSlide15.xml" Id="R3d734fb143954e2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e4cf36cc545dc" /><Relationship Type="http://schemas.openxmlformats.org/officeDocument/2006/relationships/notesSlide" Target="/ppt/notesSlides/notesSlide16.xml" Id="R5180e0de260140f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fc8b12a8a49e2" /><Relationship Type="http://schemas.openxmlformats.org/officeDocument/2006/relationships/notesSlide" Target="/ppt/notesSlides/notesSlide17.xml" Id="Rd91a5318bea04d4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3242272bf4d19" /><Relationship Type="http://schemas.openxmlformats.org/officeDocument/2006/relationships/notesSlide" Target="/ppt/notesSlides/notesSlide18.xml" Id="R15b3c14dacb04dd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267ad178b4cd6" /><Relationship Type="http://schemas.openxmlformats.org/officeDocument/2006/relationships/notesSlide" Target="/ppt/notesSlides/notesSlide19.xml" Id="R441110eda7c04c8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d24cb0f001439d" /><Relationship Type="http://schemas.openxmlformats.org/officeDocument/2006/relationships/notesSlide" Target="/ppt/notesSlides/notesSlide20.xml" Id="R04e1069241c64e3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2FE5B1B-DF2D-4343-80B7-ED3A7676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FA9B2FB-F9D7-4C0B-B305-E97F735D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B6CE"/>
          </a:solidFill>
          <a:ln xmlns:a="http://schemas.openxmlformats.org/drawingml/2006/main" w="0">
            <a:noFill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A9F922F-CEC7-41BC-83B5-079D986A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DARK-FIELD MICROSCOPY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1B6A223-7EB0-4853-A16D-B7B31562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66825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40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暗场显微镜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FF07DD4-DE2B-4D69-B5BD-6BE5F1EA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781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把最亮的背景拿掉，让微弱散射成为主角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F728DF5E-CC45-4459-9F32-DDA2C8E0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2A541"/>
            </a:solidFill>
            <a:prstDash val="solid"/>
          </a:ln>
        </p:spPr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9C6833A4-96F9-44DC-9C18-460D68FE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95675"/>
            <a:ext cx="32194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E669AB5-4053-44DA-8D2D-D21A42E1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95675"/>
            <a:ext cx="66675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3A8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0B49174-4519-4016-A729-78FA45B6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90925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原理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194CD94-DDB6-48E7-9F4E-5F5641C6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14775"/>
            <a:ext cx="2819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光路、NA 条件与成像边界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44E5491E-A307-4489-A67D-F0E01442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95675"/>
            <a:ext cx="32194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3CE8D5D5-DD73-4BB1-8354-9718BD6E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95675"/>
            <a:ext cx="66675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B6CE"/>
          </a:solidFill>
          <a:ln xmlns:a="http://schemas.openxmlformats.org/drawingml/2006/main" w="0">
            <a:noFill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17CE9AA-9D79-4FDB-87E7-161A9E0A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90925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演化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E3F5C3F-769F-430A-9E8D-07E6B612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14775"/>
            <a:ext cx="2819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从超显微镜到 TIR 与高光谱</a:t>
            </a:r>
          </a:p>
        </p:txBody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B1C13A5C-55FA-419B-A4EB-3F1A3CED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95675"/>
            <a:ext cx="32194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B03180C6-DABA-45D5-B995-06E9A2FE8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95675"/>
            <a:ext cx="66675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541"/>
          </a:solidFill>
          <a:ln xmlns:a="http://schemas.openxmlformats.org/drawingml/2006/main" w="0">
            <a:noFill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0DD831C-974B-473D-B30D-02567D2A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90925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应用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394C91E-7743-45E6-8D78-0FFB488B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14775"/>
            <a:ext cx="2819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病毒、纳米颗粒与表面缺陷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47F9EB5-849C-4C70-9EC4-EEF949D4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7215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汇报人：曹寿伟    课程：</a:t>
            </a:r>
            <a:r>
              <a:rPr sz="1275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现代仪器分析基础</a:t>
            </a:r>
            <a:r>
              <a:rPr sz="1275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    日期：2026.10.06</a:t>
            </a:r>
          </a:p>
        </p:txBody>
      </p:sp>
    </p:spTree>
    <p:extLst>
      <p:ext uri="{BB962C8B-B14F-4D97-AF65-F5344CB8AC3E}">
        <p14:creationId xmlns:p14="http://schemas.microsoft.com/office/powerpoint/2010/main" val="8462007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15852425-1FA0-46AC-838E-D1883D0E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3D898A-FBD8-4122-B4B6-34F34A94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01 直觉引入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FB3664B-1F15-46E8-9C1B-400B5CE8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为什么远近光污染对观星影响很大？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99268403-6CF1-4856-8F8D-46B22410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D793EB7-E8C2-4162-BFE8-B57B3EB6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828" lnSpcReduction="1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28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842fcf8d194c2f"/>
          <a:srcRect xmlns:a="http://schemas.openxmlformats.org/drawingml/2006/main" l="32" t="0" r="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504950"/>
            <a:ext cx="7239000" cy="40767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2EA407E-3FA9-4546-B13F-B424D90F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91125"/>
            <a:ext cx="7239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4"/>
          </a:solidFill>
          <a:ln xmlns:a="http://schemas.openxmlformats.org/drawingml/2006/main" w="0">
            <a:noFill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8C5B30E-31D6-4A2E-A5A5-D244763C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689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同一片星空：左侧背景更亮，右侧弱星更容易被察觉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91CE848-3412-4B0D-823F-7ECC9ED2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145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信号没有突然变强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067FE99-AE67-4B16-B460-CF5FA51D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38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真正改变的是：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8B4DC73F-931C-4A97-B9DC-AE59629E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05100"/>
            <a:ext cx="31623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6562CAB5-2529-472F-BBEE-88796830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05100"/>
            <a:ext cx="66675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3A8"/>
          </a:solidFill>
          <a:ln xmlns:a="http://schemas.openxmlformats.org/drawingml/2006/main" w="0">
            <a:noFill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28AAB2D-3B0B-4F75-B157-0B14BBAF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003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背景 ↓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CC8F67E-18D0-4603-B485-AE6F7E2C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242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弱信号与背景的差距被拉开</a:t>
            </a:r>
          </a:p>
        </p:txBody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6767894E-44AC-4AE1-BE6A-A4A29E59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24275"/>
            <a:ext cx="31623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3341EFDE-96FB-40A5-8A5A-C9B7027E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24275"/>
            <a:ext cx="66675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B6CE"/>
          </a:solidFill>
          <a:ln xmlns:a="http://schemas.openxmlformats.org/drawingml/2006/main" w="0">
            <a:noFill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68BB84F-441E-4AE7-BADB-A918A86E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1952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对比度 ↑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181F768-48BE-434F-AE29-0431C40C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43375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原本被淹没的目标显现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DA3AAEE-393D-473D-8EEC-C81F1821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76800"/>
            <a:ext cx="3162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C95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95A5A"/>
                </a:solidFill>
                <a:latin typeface="Microsoft YaHei"/>
                <a:ea typeface="Microsoft YaHei"/>
                <a:cs typeface="Microsoft YaHei"/>
              </a:rPr>
              <a:t>类比边界：星星自己发光；显微样品通常靠散射光被看见。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7E45F43E-EC5C-401A-82C5-7159AECD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538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图：AI</a:t>
            </a: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生成，仅作概念类比，不作为实验数据</a:t>
            </a:r>
            <a:endParaRPr sz="750" b="0">
              <a:solidFill>
                <a:srgbClr val="647486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7870627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BF3DBD62-5B62-4093-A5AB-577B22F2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9BA9570-268A-4C92-BC4A-E0C2F927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01 需求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EDA82EA-FEA1-485B-829A-D65250D0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亮场的困境：目标和背景都很亮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1C47DCF0-2019-449B-A119-488462E9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814A1D0-F44A-4F5B-B9E0-588EEB34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828" lnSpcReduction="1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98AFC8C-B3C7-46CE-B5E8-5F3A9F73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702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相机看到的是三部分叠加</a:t>
            </a:r>
          </a:p>
        </p:txBody>
      </p:sp>
      <p:sp>
        <p:nvSpPr>
          <p:cNvPr id="7" name="椭圆 6">
            <a:extLst xmlns:a="http://schemas.openxmlformats.org/drawingml/2006/main">
              <a:ext uri="{FF2B5EF4-FFF2-40B4-BE49-F238E27FC236}">
                <a16:creationId xmlns:a16="http://schemas.microsoft.com/office/drawing/2014/main" id="{15F4AB84-D89A-4076-BC34-8D08B91A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1466850" cy="1466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noFill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E8BD317-ACE0-4C7A-9FC2-CB089B3C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直射光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强背景</a:t>
            </a:r>
          </a:p>
        </p:txBody>
      </p:sp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AC70EC3E-EA20-4199-B4F3-C1DB03A7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1466850" cy="1466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B6CE"/>
          </a:solidFill>
          <a:ln xmlns:a="http://schemas.openxmlformats.org/drawingml/2006/main" w="0">
            <a:noFill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1506381-6F50-4076-A4C4-BC64177B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5745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样品散射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弱信号</a:t>
            </a:r>
          </a:p>
        </p:txBody>
      </p:sp>
      <p:sp>
        <p:nvSpPr>
          <p:cNvPr id="11" name="椭圆 10">
            <a:extLst xmlns:a="http://schemas.openxmlformats.org/drawingml/2006/main">
              <a:ext uri="{FF2B5EF4-FFF2-40B4-BE49-F238E27FC236}">
                <a16:creationId xmlns:a16="http://schemas.microsoft.com/office/drawing/2014/main" id="{88D7D90B-9708-419B-B6E2-5A22496D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14550"/>
            <a:ext cx="1466850" cy="1466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7486"/>
          </a:solidFill>
          <a:ln xmlns:a="http://schemas.openxmlformats.org/drawingml/2006/main" w="0">
            <a:noFill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8FA2186-B5F3-4D46-9DD5-C68B2279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5745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杂散与噪声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伪信号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BE455DF-6D39-46B8-86F3-9F4D4605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7175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816" lnSpcReduction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1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2C92DB0-700B-47B2-9045-D5C75CDE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7175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816" lnSpcReduction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1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F83CA0E8-E3A5-4E22-ABDD-1A1D81B8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6191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1BF5AEB-BB83-4CDB-8F09-5F7FE6B8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5657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当弱散射信号只占总光强的一小部分，细边缘、透明颗粒和浅划痕就会被背景吞没。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6A7266EC-0CCB-46DF-8AB0-43CF9D21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00200"/>
            <a:ext cx="4000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E49EAFB0-FC28-4246-882B-505349AA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600200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3A8"/>
          </a:solidFill>
          <a:ln xmlns:a="http://schemas.openxmlformats.org/drawingml/2006/main" w="0">
            <a:noFill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D29EEBB-1A85-445F-97DA-CB2123FB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695450"/>
            <a:ext cx="3600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需求 1｜无染色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1883D8-2630-46CE-BEEF-B8426816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019300"/>
            <a:ext cx="360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不靠吸收差异，也能看到透明或弱吸收对象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588AEC14-5DBF-4219-90EA-349D6D3C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857500"/>
            <a:ext cx="4000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22" name="矩形: 圆角 21">
            <a:extLst xmlns:a="http://schemas.openxmlformats.org/drawingml/2006/main">
              <a:ext uri="{FF2B5EF4-FFF2-40B4-BE49-F238E27FC236}">
                <a16:creationId xmlns:a16="http://schemas.microsoft.com/office/drawing/2014/main" id="{05FF50F6-E8D4-4B25-BE0A-CED62D1C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857500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B6CE"/>
          </a:solidFill>
          <a:ln xmlns:a="http://schemas.openxmlformats.org/drawingml/2006/main" w="0">
            <a:noFill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95A25C6-49BC-4311-9534-33C4F55B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952750"/>
            <a:ext cx="3600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需求 2｜高通量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E597EFE-ABCF-4E11-BEB2-AF111537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276600"/>
            <a:ext cx="360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比逐点扫描更快地发现稀少目标</a:t>
            </a:r>
          </a:p>
        </p:txBody>
      </p:sp>
      <p:sp>
        <p:nvSpPr>
          <p:cNvPr id="25" name="矩形: 圆角 24">
            <a:extLst xmlns:a="http://schemas.openxmlformats.org/drawingml/2006/main">
              <a:ext uri="{FF2B5EF4-FFF2-40B4-BE49-F238E27FC236}">
                <a16:creationId xmlns:a16="http://schemas.microsoft.com/office/drawing/2014/main" id="{5364D008-74FE-4B7D-A9F7-632C2CE1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114800"/>
            <a:ext cx="4000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26" name="矩形: 圆角 25">
            <a:extLst xmlns:a="http://schemas.openxmlformats.org/drawingml/2006/main">
              <a:ext uri="{FF2B5EF4-FFF2-40B4-BE49-F238E27FC236}">
                <a16:creationId xmlns:a16="http://schemas.microsoft.com/office/drawing/2014/main" id="{411EA3E6-C0FD-49E8-9A94-B95E742E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114800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541"/>
          </a:solidFill>
          <a:ln xmlns:a="http://schemas.openxmlformats.org/drawingml/2006/main" w="0">
            <a:noFill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1085D88-E90F-4397-B246-E8EEA7C0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210050"/>
            <a:ext cx="3600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需求 3｜可定量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4B736789-C885-4BC2-90D0-E013C505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533900"/>
            <a:ext cx="3600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把亮点升级为计数、轨迹或光谱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4A211298-CFE7-4AE1-813D-2DFDCD23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538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概念依据：Davidson &amp; Abramowitz, Optical Microscopy (2002)</a:t>
            </a:r>
          </a:p>
        </p:txBody>
      </p:sp>
    </p:spTree>
    <p:extLst>
      <p:ext uri="{BB962C8B-B14F-4D97-AF65-F5344CB8AC3E}">
        <p14:creationId xmlns:p14="http://schemas.microsoft.com/office/powerpoint/2010/main" val="10601572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740C7B10-DBEB-40F3-89DE-4BE6A5AB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7C4A21A-6F40-467A-A4EF-2F18DBE5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01 效果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00AD2F5-C98B-464E-B89C-49DCDEA1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暗场的产品效果：黑背景上的散射轮廓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161429C5-A22D-4B52-89A1-ECA4D636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5BFAF14-760E-4FA1-9C3D-FB9855F8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828" lnSpcReduction="1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6C7C7F47-5190-4AF4-A6CA-C0AF96B5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4953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071524"/>
          </a:solidFill>
          <a:ln xmlns:a="http://schemas.openxmlformats.org/drawingml/2006/main" w="0">
            <a:noFill/>
          </a:ln>
        </p:spPr>
      </p:sp>
      <p:pic>
        <p:nvPicPr>
          <p:cNvPr id="32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55a179614e45c6"/>
          <a:stretch xmlns:a="http://schemas.openxmlformats.org/drawingml/2006/main"/>
        </p:blipFill>
        <p:spPr>
          <a:xfrm xmlns:a="http://schemas.openxmlformats.org/drawingml/2006/main">
            <a:off x="1367518" y="1657350"/>
            <a:ext cx="3265714" cy="3810000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A3BCDEE-C4D3-4709-B8D2-0A2A6610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95450"/>
            <a:ext cx="504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硅藻壳体的边缘和纹理被散射光勾勒出来</a:t>
            </a:r>
          </a:p>
        </p:txBody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9EEBAD85-C239-4EF9-920D-231BF094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71750"/>
            <a:ext cx="50673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B43F65E4-7DE2-4669-B62C-2FD4223B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71750"/>
            <a:ext cx="66675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3A8"/>
          </a:solidFill>
          <a:ln xmlns:a="http://schemas.openxmlformats.org/drawingml/2006/main" w="0">
            <a:noFill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2AEAF47-B4D7-443A-86A5-848AA5C4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670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看见什么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88A4E7C-10D3-45A2-BB20-C1A4879D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908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边缘、颗粒、界面和粗糙处通常更亮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C876AE6B-AB9E-487D-98A7-AF3BFB68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62350"/>
            <a:ext cx="50673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D593775F-F2A5-470A-9580-A072D0DA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62350"/>
            <a:ext cx="66675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B6CE"/>
          </a:solidFill>
          <a:ln xmlns:a="http://schemas.openxmlformats.org/drawingml/2006/main" w="0">
            <a:noFill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C425C8A-ACAC-4E5C-B1F2-F38962DB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576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为什么亮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B47C9C0-CC9A-4A06-9624-BA71CFA2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814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它们把原本绕开物镜的光重新定向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04B2BA52-1AEA-4FDA-BA1F-445ECD48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52950"/>
            <a:ext cx="50673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7959BB9E-E5D9-4B4A-8B5A-86C142F7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52950"/>
            <a:ext cx="66675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541"/>
          </a:solidFill>
          <a:ln xmlns:a="http://schemas.openxmlformats.org/drawingml/2006/main" w="0">
            <a:noFill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A279BF89-9F60-417A-AEC4-29265B04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482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代价是什么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ADE01655-7867-4F4A-80BB-FBC2A489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720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灰尘、划痕、盖玻片也会一起变亮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28BEA3E1-908B-4F9A-8F88-7BB3AA13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572125"/>
            <a:ext cx="2000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5A5A"/>
          </a:solidFill>
          <a:ln xmlns:a="http://schemas.openxmlformats.org/drawingml/2006/main" w="0">
            <a:noFill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60AACFE-4833-4159-89EC-39259549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581650"/>
            <a:ext cx="1847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不是“更高分辨率”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6870A45D-983E-43F9-8614-9AC194FA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538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图源：Davidson &amp; Abramowitz (2002), Fig. 15（本地资料裁图）</a:t>
            </a:r>
          </a:p>
        </p:txBody>
      </p:sp>
    </p:spTree>
    <p:extLst>
      <p:ext uri="{BB962C8B-B14F-4D97-AF65-F5344CB8AC3E}">
        <p14:creationId xmlns:p14="http://schemas.microsoft.com/office/powerpoint/2010/main" val="8092595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93333C3-120D-42E5-97F2-8C25D2D4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30AEE56-7F80-47DB-ABF3-F54F656D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02 原理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0FABAE9-D051-4A21-AACD-6B562C0C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一句话原理：挡住直射光，只收散射光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1F3DF62A-9933-4364-8CF2-1B957ED1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39B16CC-6EB9-419F-8730-A09275AC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828" lnSpcReduction="1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25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0a4899e134a27"/>
          <a:stretch xmlns:a="http://schemas.openxmlformats.org/drawingml/2006/main"/>
        </p:blipFill>
        <p:spPr>
          <a:xfrm xmlns:a="http://schemas.openxmlformats.org/drawingml/2006/main">
            <a:off x="1061442" y="1504950"/>
            <a:ext cx="3477816" cy="43815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E843B39-C4C3-448D-BDD8-6E621CF1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6478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① 造一个空心光锥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6D11503-382A-45CB-98A4-42DD2F51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5740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中央遮光片挡住低角度直射光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029D2DA0-90CD-4C57-9E0E-11618386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336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CE5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2B5EF24-0805-449C-97B3-28922E87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62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② 让未散射光绕开物镜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1ED578D-8BE2-4F08-9767-8C6D75E3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7182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样品不存在时，视野接近黑色</a:t>
            </a:r>
          </a:p>
        </p:txBody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0AB88FC1-1B5E-49F3-9279-421B173D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4807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CE5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32EB75C-7317-4B6B-AA38-11164F83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8766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③ 样品把光改向物镜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15AD778-B51E-4D37-ABBB-E0AFE5FD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8625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散射、折射或反射后的光形成亮像</a:t>
            </a:r>
          </a:p>
        </p:txBody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FF33F61F-DF7E-46D1-955A-09E6BE8F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933950"/>
            <a:ext cx="4953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623D729-A2FC-413E-9043-0D535B10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05777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暗场 = 照明路径与收集路径的空间分离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56DC20B-CF5F-4205-96C1-7307257A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538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图源：Davidson</a:t>
            </a: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 &amp; Abramowitz (2002), Fig. 14</a:t>
            </a:r>
          </a:p>
        </p:txBody>
      </p:sp>
    </p:spTree>
    <p:extLst>
      <p:ext uri="{BB962C8B-B14F-4D97-AF65-F5344CB8AC3E}">
        <p14:creationId xmlns:p14="http://schemas.microsoft.com/office/powerpoint/2010/main" val="7024886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4CFA297C-8156-457C-8D9A-F457F47A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5D0403C-7827-4A41-9FCE-6FAD1250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02 原理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11B4E32-C487-4E7E-A613-0700DDB9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几何条件：照明锥必须从物镜外侧掠过</a:t>
            </a:r>
            <a:endParaRPr sz="2550" b="1">
              <a:solidFill>
                <a:srgbClr val="173B6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7A57F55C-8875-4822-97A5-4927C771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B27705D-2202-455A-9AB1-B85E9739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828" lnSpcReduction="1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6D2F9F5-D817-4D77-B7F7-7F3645BBC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4095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850" b="1">
                <a:solidFill>
                  <a:srgbClr val="173B6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3B63"/>
                </a:solidFill>
                <a:latin typeface="Arial"/>
                <a:ea typeface="Arial"/>
                <a:cs typeface="Arial"/>
              </a:rPr>
              <a:t>NA = n · sin θ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6B5C032-CEDE-4CC3-B559-F498ED0D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85975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介质折射率 × 光线半角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82180BA5-CFBE-4CC5-BB27-A394E832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453390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5D6FF4B-E283-4647-AC97-B44A28D9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89" lnSpcReduction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rPr>
              <a:t>暗场成立的关键不等式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49A4236-4445-4EE6-ABAB-D5855D2E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042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17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照明环最小 NA  &gt;  物镜 NA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380FA6C-D524-44BD-A32F-8FFB6CF7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67175"/>
            <a:ext cx="3829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383" lnSpcReduction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比较的是照明环的最小 NA，而不是只比较聚光镜铭牌上的最大 NA。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F4E0A49-242A-48BB-89B2-CD77DA46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538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条件表述依据：Davidson &amp; Abramowitz (2002); Nikon MicroscopyU Darkfield Illumination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72C18A-3FE4-47A4-A0EA-EA138043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562100"/>
            <a:ext cx="1771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64748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DE2D54-972B-42AA-AE52-B0E09D1F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1925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物镜入口瞳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F3F1B7-2D59-4277-886F-7CFA70F3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67125"/>
            <a:ext cx="22479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C73A8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49E75E-C214-40E0-9B51-711B64FC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147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6CEFF2-D9EA-4F68-8151-7B7B3B04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671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04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2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样品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B3993F-8687-4855-9D39-D3B694CE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33800"/>
            <a:ext cx="2209800" cy="1485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2A54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ECD175-AB58-4F22-A159-7AD1AA6A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71700"/>
            <a:ext cx="1943100" cy="156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2A541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D87A90-7D6E-4EF0-A7C7-A464EBB7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71700"/>
            <a:ext cx="1943100" cy="156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2A541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2DB9F8-F523-4D0A-8D6A-9D9BF305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33800"/>
            <a:ext cx="2209800" cy="1485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2A54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3FC590-8CCE-4DF7-8E59-84B9A94C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0" cy="1685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4B6CE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DAAE9B-5FA6-48E7-AAA2-BA319792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81200"/>
            <a:ext cx="0" cy="1685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4B6CE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A35CDA-12B2-4BBF-BE4F-9988730C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717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F2A5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2A541"/>
                </a:solidFill>
                <a:latin typeface="Microsoft YaHei"/>
                <a:ea typeface="Microsoft YaHei"/>
                <a:cs typeface="Microsoft YaHei"/>
              </a:rPr>
              <a:t>未散射光绕开物镜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1A1869-1B90-41AA-8686-94E2CC9A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717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125" b="1">
                <a:solidFill>
                  <a:srgbClr val="F2A5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2A541"/>
                </a:solidFill>
                <a:latin typeface="Microsoft YaHei"/>
                <a:ea typeface="Microsoft YaHei"/>
                <a:cs typeface="Microsoft YaHei"/>
              </a:rPr>
              <a:t>未散射光绕开物镜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1DC76E-0D0C-4625-A508-7C08760B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9080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350" b="1">
                <a:solidFill>
                  <a:srgbClr val="64B6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4B6CE"/>
                </a:solidFill>
                <a:latin typeface="Microsoft YaHei"/>
                <a:ea typeface="Microsoft YaHei"/>
                <a:cs typeface="Microsoft YaHei"/>
              </a:rPr>
              <a:t>散射光进入物镜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CE04E3-A850-40AA-8845-22D9FB1B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1435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350" b="1">
                <a:solidFill>
                  <a:srgbClr val="F2A5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2A541"/>
                </a:solidFill>
                <a:latin typeface="Microsoft YaHei"/>
                <a:ea typeface="Microsoft YaHei"/>
                <a:cs typeface="Microsoft YaHei"/>
              </a:rPr>
              <a:t>高角度照明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798543-32F6-4C2B-8C28-B857DA6E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81650"/>
            <a:ext cx="43434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1F5291-711D-4AC2-967B-E00FDC32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29275"/>
            <a:ext cx="3962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2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橙色：照明光    蓝色：样品散射光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512C31B-1769-4D35-A27A-6ACBC8DF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981700"/>
            <a:ext cx="3733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050" b="1">
                <a:solidFill>
                  <a:srgbClr val="C95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95A5A"/>
                </a:solidFill>
                <a:latin typeface="Microsoft YaHei"/>
                <a:ea typeface="Microsoft YaHei"/>
                <a:cs typeface="Microsoft YaHei"/>
              </a:rPr>
              <a:t>对中偏差会让照明光进入物镜，背景随之变亮</a:t>
            </a:r>
          </a:p>
        </p:txBody>
      </p:sp>
    </p:spTree>
    <p:extLst>
      <p:ext uri="{BB962C8B-B14F-4D97-AF65-F5344CB8AC3E}">
        <p14:creationId xmlns:p14="http://schemas.microsoft.com/office/powerpoint/2010/main" val="11294332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E806FCB1-CCF9-4480-ACEC-38C97CA0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8374A6B-33AF-49AD-93C0-251B8D08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02 结构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9E95A6A-5B80-41F6-9D7A-1959C0C9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暗场显微镜的六个核心部件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082FF180-BB71-4036-A69C-2DF4778D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512EC2C-080E-4FE5-AC05-B9BF11AE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758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969822BF-DE4B-44EF-8BD4-6719330C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5467350" cy="4514850"/>
          </a:xfrm>
          <a:prstGeom xmlns:a="http://schemas.openxmlformats.org/drawingml/2006/main" prst="roundRect">
            <a:avLst>
              <a:gd name="adj" fmla="val 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CE5"/>
            </a:solidFill>
          </a:ln>
        </p:spPr>
      </p:sp>
      <p:pic>
        <p:nvPicPr>
          <p:cNvPr id="80" name="图片 7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a2a63b5aca424a"/>
          <a:stretch xmlns:a="http://schemas.openxmlformats.org/drawingml/2006/main"/>
        </p:blipFill>
        <p:spPr>
          <a:xfrm xmlns:a="http://schemas.openxmlformats.org/drawingml/2006/main">
            <a:off x="1801388" y="1816994"/>
            <a:ext cx="2882900" cy="4324350"/>
          </a:xfrm>
          <a:prstGeom xmlns:a="http://schemas.openxmlformats.org/drawingml/2006/main" prst="rect">
            <a:avLst/>
          </a:prstGeom>
        </p:spPr>
      </p:pic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13A9367-4EEF-4BCE-9181-82C68EED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1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结构示意图</a:t>
            </a:r>
          </a:p>
        </p:txBody>
      </p:sp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3AF356DB-118B-4AB8-B08A-93E42AAC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3008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noFill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EF7AD0D-6748-4585-AB95-59DCA70B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16818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27" lnSpcReduction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FC53E26A-66DF-4D7F-8170-5EAF4919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11060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A541"/>
            </a:solidFill>
          </a:ln>
        </p:spPr>
      </p:sp>
      <p:sp>
        <p:nvSpPr>
          <p:cNvPr id="13" name="椭圆 12">
            <a:extLst xmlns:a="http://schemas.openxmlformats.org/drawingml/2006/main">
              <a:ext uri="{FF2B5EF4-FFF2-40B4-BE49-F238E27FC236}">
                <a16:creationId xmlns:a16="http://schemas.microsoft.com/office/drawing/2014/main" id="{7572C1F5-6812-487D-BDDD-2EB32880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552481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795"/>
          </a:solidFill>
          <a:ln xmlns:a="http://schemas.openxmlformats.org/drawingml/2006/main" w="0">
            <a:noFill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4C515BC-6513-43B1-A11A-BEA135EB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590581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27" lnSpcReduction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直接连接符 14">
            <a:extLst xmlns:a="http://schemas.openxmlformats.org/drawingml/2006/main">
              <a:ext uri="{FF2B5EF4-FFF2-40B4-BE49-F238E27FC236}">
                <a16:creationId xmlns:a16="http://schemas.microsoft.com/office/drawing/2014/main" id="{3ED5E039-0E99-4E8E-B50C-5BF1C17B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705350"/>
            <a:ext cx="165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A8795"/>
            </a:solidFill>
          </a:ln>
        </p:spPr>
      </p:sp>
      <p:sp>
        <p:nvSpPr>
          <p:cNvPr id="17" name="椭圆 16">
            <a:extLst xmlns:a="http://schemas.openxmlformats.org/drawingml/2006/main">
              <a:ext uri="{FF2B5EF4-FFF2-40B4-BE49-F238E27FC236}">
                <a16:creationId xmlns:a16="http://schemas.microsoft.com/office/drawing/2014/main" id="{5E60A613-D75D-46AE-9C77-346BDD51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57382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B6CE"/>
          </a:solidFill>
          <a:ln xmlns:a="http://schemas.openxmlformats.org/drawingml/2006/main" w="0">
            <a:noFill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065C9E4-E0D4-4940-A4D5-6E902020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95482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27" lnSpcReduction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AD39CFFF-62D1-4883-BF50-2F40CDAF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721" y="4229100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B6CE"/>
            </a:solidFill>
          </a:ln>
        </p:spPr>
      </p:sp>
      <p:sp>
        <p:nvSpPr>
          <p:cNvPr id="21" name="椭圆 20">
            <a:extLst xmlns:a="http://schemas.openxmlformats.org/drawingml/2006/main">
              <a:ext uri="{FF2B5EF4-FFF2-40B4-BE49-F238E27FC236}">
                <a16:creationId xmlns:a16="http://schemas.microsoft.com/office/drawing/2014/main" id="{22C83E5D-6C4B-4F21-A1C4-58A5B9B2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6416" y="3619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7D"/>
          </a:solidFill>
          <a:ln xmlns:a="http://schemas.openxmlformats.org/drawingml/2006/main" w="0">
            <a:noFill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42258FB-C1A0-4556-8016-4C5220E6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041" y="3657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27" lnSpcReduction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直接连接符 22">
            <a:extLst xmlns:a="http://schemas.openxmlformats.org/drawingml/2006/main">
              <a:ext uri="{FF2B5EF4-FFF2-40B4-BE49-F238E27FC236}">
                <a16:creationId xmlns:a16="http://schemas.microsoft.com/office/drawing/2014/main" id="{BFD76DBD-AE92-45B3-9D96-7E8E6ACC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96182"/>
            <a:ext cx="165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B7D"/>
            </a:solidFill>
          </a:ln>
        </p:spPr>
      </p:sp>
      <p:sp>
        <p:nvSpPr>
          <p:cNvPr id="25" name="椭圆 24">
            <a:extLst xmlns:a="http://schemas.openxmlformats.org/drawingml/2006/main">
              <a:ext uri="{FF2B5EF4-FFF2-40B4-BE49-F238E27FC236}">
                <a16:creationId xmlns:a16="http://schemas.microsoft.com/office/drawing/2014/main" id="{28D77C12-6068-4FD8-A68F-849BE52D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00" y="3081337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3A8"/>
          </a:solidFill>
          <a:ln xmlns:a="http://schemas.openxmlformats.org/drawingml/2006/main" w="0">
            <a:noFill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1564C94-0138-4CBF-ADBE-775F231B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325" y="3119437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27" lnSpcReduction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直接连接符 26">
            <a:extLst xmlns:a="http://schemas.openxmlformats.org/drawingml/2006/main">
              <a:ext uri="{FF2B5EF4-FFF2-40B4-BE49-F238E27FC236}">
                <a16:creationId xmlns:a16="http://schemas.microsoft.com/office/drawing/2014/main" id="{F2E3E133-D3F0-4248-9F36-995A069F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025" y="3305175"/>
            <a:ext cx="163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73A8"/>
            </a:solidFill>
          </a:ln>
        </p:spPr>
      </p:sp>
      <p:sp>
        <p:nvSpPr>
          <p:cNvPr id="29" name="椭圆 28">
            <a:extLst xmlns:a="http://schemas.openxmlformats.org/drawingml/2006/main">
              <a:ext uri="{FF2B5EF4-FFF2-40B4-BE49-F238E27FC236}">
                <a16:creationId xmlns:a16="http://schemas.microsoft.com/office/drawing/2014/main" id="{68E8668E-C829-43CB-BDEE-ADDD2C11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88767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A7E57411-78C4-44B1-AF7A-D01995A2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926867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27" lnSpcReduction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6B8C7F74-E745-40C0-A7AA-6115DDA0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069742"/>
            <a:ext cx="165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3B63"/>
            </a:solidFill>
          </a:ln>
        </p:spPr>
      </p:sp>
      <p:sp>
        <p:nvSpPr>
          <p:cNvPr id="33" name="矩形: 圆角 32">
            <a:extLst xmlns:a="http://schemas.openxmlformats.org/drawingml/2006/main">
              <a:ext uri="{FF2B5EF4-FFF2-40B4-BE49-F238E27FC236}">
                <a16:creationId xmlns:a16="http://schemas.microsoft.com/office/drawing/2014/main" id="{52BCD811-6001-4F40-8821-883E9502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66850"/>
            <a:ext cx="51816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34" name="矩形: 圆角 33">
            <a:extLst xmlns:a="http://schemas.openxmlformats.org/drawingml/2006/main">
              <a:ext uri="{FF2B5EF4-FFF2-40B4-BE49-F238E27FC236}">
                <a16:creationId xmlns:a16="http://schemas.microsoft.com/office/drawing/2014/main" id="{A94E6963-23C1-4907-996E-06128A36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66850"/>
            <a:ext cx="66675" cy="619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541"/>
          </a:solidFill>
          <a:ln xmlns:a="http://schemas.openxmlformats.org/drawingml/2006/main" w="0">
            <a:noFill/>
          </a:ln>
        </p:spPr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A8954A2A-707C-4762-B918-965F7489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00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noFill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900B0412-75AE-4713-BCE9-3A50BB987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478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8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B5C65C3B-A901-42F7-BAEC-0AC45E6E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430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1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光源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331E6B42-1CE5-4CE7-A561-65E194F4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811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提供足够的照明功率</a:t>
            </a:r>
          </a:p>
        </p:txBody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3B73C08A-24C4-476D-B2A9-84AC4FCA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81225"/>
            <a:ext cx="51816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40" name="矩形: 圆角 39">
            <a:extLst xmlns:a="http://schemas.openxmlformats.org/drawingml/2006/main">
              <a:ext uri="{FF2B5EF4-FFF2-40B4-BE49-F238E27FC236}">
                <a16:creationId xmlns:a16="http://schemas.microsoft.com/office/drawing/2014/main" id="{CADD68F7-BD86-4E6B-B734-F662C866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81225"/>
            <a:ext cx="66675" cy="619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8795"/>
          </a:solidFill>
          <a:ln xmlns:a="http://schemas.openxmlformats.org/drawingml/2006/main" w="0">
            <a:noFill/>
          </a:ln>
        </p:spPr>
      </p:sp>
      <p:sp>
        <p:nvSpPr>
          <p:cNvPr id="41" name="椭圆 40">
            <a:extLst xmlns:a="http://schemas.openxmlformats.org/drawingml/2006/main">
              <a:ext uri="{FF2B5EF4-FFF2-40B4-BE49-F238E27FC236}">
                <a16:creationId xmlns:a16="http://schemas.microsoft.com/office/drawing/2014/main" id="{F43FA285-A327-4BEB-BCFA-26846459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145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795"/>
          </a:solidFill>
          <a:ln xmlns:a="http://schemas.openxmlformats.org/drawingml/2006/main" w="0">
            <a:noFill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5D4FA22B-C35E-433A-81B9-262C4950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62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8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8A48DBD8-EFEE-4CC0-8250-6A2AAEA8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5742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1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中央遮光片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5274B1A-DDE4-4A13-9777-5D4C6E69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955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阻断低角度直射光</a:t>
            </a:r>
          </a:p>
        </p:txBody>
      </p:sp>
      <p:sp>
        <p:nvSpPr>
          <p:cNvPr id="45" name="矩形: 圆角 44">
            <a:extLst xmlns:a="http://schemas.openxmlformats.org/drawingml/2006/main">
              <a:ext uri="{FF2B5EF4-FFF2-40B4-BE49-F238E27FC236}">
                <a16:creationId xmlns:a16="http://schemas.microsoft.com/office/drawing/2014/main" id="{52913621-1A3A-448D-8172-144DF65A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95600"/>
            <a:ext cx="51816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46" name="矩形: 圆角 45">
            <a:extLst xmlns:a="http://schemas.openxmlformats.org/drawingml/2006/main">
              <a:ext uri="{FF2B5EF4-FFF2-40B4-BE49-F238E27FC236}">
                <a16:creationId xmlns:a16="http://schemas.microsoft.com/office/drawing/2014/main" id="{C2A51F10-8F65-4D4B-A0F8-7E7F09C7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95600"/>
            <a:ext cx="66675" cy="619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B6CE"/>
          </a:solidFill>
          <a:ln xmlns:a="http://schemas.openxmlformats.org/drawingml/2006/main" w="0">
            <a:noFill/>
          </a:ln>
        </p:spPr>
      </p:sp>
      <p:sp>
        <p:nvSpPr>
          <p:cNvPr id="47" name="椭圆 46">
            <a:extLst xmlns:a="http://schemas.openxmlformats.org/drawingml/2006/main">
              <a:ext uri="{FF2B5EF4-FFF2-40B4-BE49-F238E27FC236}">
                <a16:creationId xmlns:a16="http://schemas.microsoft.com/office/drawing/2014/main" id="{CCDB0E9B-AF1B-4757-94E1-9FF22CB9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B6CE"/>
          </a:solidFill>
          <a:ln xmlns:a="http://schemas.openxmlformats.org/drawingml/2006/main" w="0">
            <a:noFill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379D23D0-40F3-40A9-8BA0-52F74F61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765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8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C18DAB32-E599-46AA-9EAF-1494BC6C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718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1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暗场聚光镜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F5302B34-2177-487C-8CFA-83D0E489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099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形成高角度空心光锥</a:t>
            </a:r>
          </a:p>
        </p:txBody>
      </p:sp>
      <p:sp>
        <p:nvSpPr>
          <p:cNvPr id="51" name="矩形: 圆角 50">
            <a:extLst xmlns:a="http://schemas.openxmlformats.org/drawingml/2006/main">
              <a:ext uri="{FF2B5EF4-FFF2-40B4-BE49-F238E27FC236}">
                <a16:creationId xmlns:a16="http://schemas.microsoft.com/office/drawing/2014/main" id="{0A9E20F3-C651-4DF3-9E4B-3A17DEB7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09975"/>
            <a:ext cx="51816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52" name="矩形: 圆角 51">
            <a:extLst xmlns:a="http://schemas.openxmlformats.org/drawingml/2006/main">
              <a:ext uri="{FF2B5EF4-FFF2-40B4-BE49-F238E27FC236}">
                <a16:creationId xmlns:a16="http://schemas.microsoft.com/office/drawing/2014/main" id="{2A2519DF-225A-4B29-B8C3-6CB7EA05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09975"/>
            <a:ext cx="66675" cy="619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B7D"/>
          </a:solidFill>
          <a:ln xmlns:a="http://schemas.openxmlformats.org/drawingml/2006/main" w="0">
            <a:noFill/>
          </a:ln>
        </p:spPr>
      </p:sp>
      <p:sp>
        <p:nvSpPr>
          <p:cNvPr id="53" name="椭圆 52">
            <a:extLst xmlns:a="http://schemas.openxmlformats.org/drawingml/2006/main">
              <a:ext uri="{FF2B5EF4-FFF2-40B4-BE49-F238E27FC236}">
                <a16:creationId xmlns:a16="http://schemas.microsoft.com/office/drawing/2014/main" id="{6AE6F92E-B354-465F-8244-3FC1A353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433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B7D"/>
          </a:solidFill>
          <a:ln xmlns:a="http://schemas.openxmlformats.org/drawingml/2006/main" w="0">
            <a:noFill/>
          </a:ln>
        </p:spPr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DF37E42C-7E64-4F49-AE10-EF7E9161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909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8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7B7D9B6E-E419-40CC-929D-F2262733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8617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1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样品 + 载玻片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A08522FA-0965-424F-9E23-6841DEE5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243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把照明光散射或折射进物镜</a:t>
            </a:r>
          </a:p>
        </p:txBody>
      </p:sp>
      <p:sp>
        <p:nvSpPr>
          <p:cNvPr id="57" name="矩形: 圆角 56">
            <a:extLst xmlns:a="http://schemas.openxmlformats.org/drawingml/2006/main">
              <a:ext uri="{FF2B5EF4-FFF2-40B4-BE49-F238E27FC236}">
                <a16:creationId xmlns:a16="http://schemas.microsoft.com/office/drawing/2014/main" id="{6896EDFD-55B0-4EF1-9457-666EF0BE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24350"/>
            <a:ext cx="51816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58" name="矩形: 圆角 57">
            <a:extLst xmlns:a="http://schemas.openxmlformats.org/drawingml/2006/main">
              <a:ext uri="{FF2B5EF4-FFF2-40B4-BE49-F238E27FC236}">
                <a16:creationId xmlns:a16="http://schemas.microsoft.com/office/drawing/2014/main" id="{4EE279AD-71A8-468D-85E6-15A911D7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24350"/>
            <a:ext cx="66675" cy="619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3A8"/>
          </a:solidFill>
          <a:ln xmlns:a="http://schemas.openxmlformats.org/drawingml/2006/main" w="0">
            <a:noFill/>
          </a:ln>
        </p:spPr>
      </p:sp>
      <p:sp>
        <p:nvSpPr>
          <p:cNvPr id="59" name="椭圆 58">
            <a:extLst xmlns:a="http://schemas.openxmlformats.org/drawingml/2006/main">
              <a:ext uri="{FF2B5EF4-FFF2-40B4-BE49-F238E27FC236}">
                <a16:creationId xmlns:a16="http://schemas.microsoft.com/office/drawing/2014/main" id="{54AE74B1-8685-44B7-9076-1B0EA0C5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577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3A8"/>
          </a:solidFill>
          <a:ln xmlns:a="http://schemas.openxmlformats.org/drawingml/2006/main" w="0">
            <a:noFill/>
          </a:ln>
        </p:spPr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D7A9B3A4-D1EE-4070-B531-7EDADAEE9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053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8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A32DEBF3-0FE4-46E2-9B0B-02166A1B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005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1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物镜</a:t>
            </a: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8E46FA2D-6861-48C2-8290-08690AC2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386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收集落入其 NA 的散射光</a:t>
            </a:r>
          </a:p>
        </p:txBody>
      </p:sp>
      <p:sp>
        <p:nvSpPr>
          <p:cNvPr id="63" name="矩形: 圆角 62">
            <a:extLst xmlns:a="http://schemas.openxmlformats.org/drawingml/2006/main">
              <a:ext uri="{FF2B5EF4-FFF2-40B4-BE49-F238E27FC236}">
                <a16:creationId xmlns:a16="http://schemas.microsoft.com/office/drawing/2014/main" id="{46C4A601-CEA7-4F5D-AAE9-6D8DDA4E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38725"/>
            <a:ext cx="51816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64" name="矩形: 圆角 63">
            <a:extLst xmlns:a="http://schemas.openxmlformats.org/drawingml/2006/main">
              <a:ext uri="{FF2B5EF4-FFF2-40B4-BE49-F238E27FC236}">
                <a16:creationId xmlns:a16="http://schemas.microsoft.com/office/drawing/2014/main" id="{C1731A09-CF41-400B-9CBE-D6B41109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38725"/>
            <a:ext cx="66675" cy="619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65" name="椭圆 64">
            <a:extLst xmlns:a="http://schemas.openxmlformats.org/drawingml/2006/main">
              <a:ext uri="{FF2B5EF4-FFF2-40B4-BE49-F238E27FC236}">
                <a16:creationId xmlns:a16="http://schemas.microsoft.com/office/drawing/2014/main" id="{E1E08959-731B-432E-908E-DE5D6444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720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1A2B6C16-D9F4-416B-B199-9FC79BFD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197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8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0B06CAC1-DCA8-44BD-ACB0-9C128C4E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114925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1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相机 / 目镜</a:t>
            </a: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4E905E9D-7FFE-4C8D-9B1D-06A0A414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353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记录亮点、轮廓和轨迹</a:t>
            </a:r>
          </a:p>
        </p:txBody>
      </p:sp>
      <p:sp>
        <p:nvSpPr>
          <p:cNvPr id="69" name="矩形: 圆角 68">
            <a:extLst xmlns:a="http://schemas.openxmlformats.org/drawingml/2006/main">
              <a:ext uri="{FF2B5EF4-FFF2-40B4-BE49-F238E27FC236}">
                <a16:creationId xmlns:a16="http://schemas.microsoft.com/office/drawing/2014/main" id="{D744EE35-D71B-4542-A06A-507E94A0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819775"/>
            <a:ext cx="5181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F7518D61-20FD-423D-8C16-FAF32124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857875"/>
            <a:ext cx="483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可选扩展：偏振片、光谱仪、微流控模块</a:t>
            </a: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84BF6D40-C84C-4CB5-908E-91069FFD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210300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5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0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编号从照明端到探测端，讲解时按 1—6 依次向上追踪光路</a:t>
            </a:r>
          </a:p>
        </p:txBody>
      </p:sp>
    </p:spTree>
    <p:extLst>
      <p:ext uri="{BB962C8B-B14F-4D97-AF65-F5344CB8AC3E}">
        <p14:creationId xmlns:p14="http://schemas.microsoft.com/office/powerpoint/2010/main" val="4143257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FBCA1D3-3722-43B7-9ED6-8C957EEB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1F4CE12-1F43-4436-B416-D7FB055F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02 结构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F5F6966-30B8-4A5E-96DD-3D84D443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三种结构，解决三类场景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F6F62DDC-8076-4564-9F00-26200486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BFC80C6-F424-4EBC-8C97-5641A688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828" lnSpcReduction="1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4FDF01BE-10E8-49BB-9C18-006EE12F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3352800" cy="42481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CE5"/>
            </a:solidFill>
          </a:ln>
        </p:spPr>
      </p:sp>
      <p:pic>
        <p:nvPicPr>
          <p:cNvPr id="35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14f6af7309424c"/>
          <a:stretch xmlns:a="http://schemas.openxmlformats.org/drawingml/2006/main"/>
        </p:blipFill>
        <p:spPr>
          <a:xfrm xmlns:a="http://schemas.openxmlformats.org/drawingml/2006/main">
            <a:off x="1321296" y="1657350"/>
            <a:ext cx="1738908" cy="2190750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490ECC1E-9431-4887-9C48-632783B6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C73A8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0BA898A-495A-460F-AE69-27103D7C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0025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透射暗场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6C7DC82-6A57-4E4A-977E-63C3B60D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0075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透明样品 / 微生物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B5AF124-B8DB-47C5-BF26-F69575CB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2933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环形斜照明从下方入射；未散射光绕开物镜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82BD2F97-F25D-4B91-8E22-A2356761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504950"/>
            <a:ext cx="3352800" cy="42481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CE5"/>
            </a:solidFill>
          </a:ln>
        </p:spPr>
      </p:sp>
      <p:pic>
        <p:nvPicPr>
          <p:cNvPr id="41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51749382544fc1"/>
          <a:stretch xmlns:a="http://schemas.openxmlformats.org/drawingml/2006/main"/>
        </p:blipFill>
        <p:spPr>
          <a:xfrm xmlns:a="http://schemas.openxmlformats.org/drawingml/2006/main">
            <a:off x="5024164" y="1657350"/>
            <a:ext cx="1762672" cy="2190750"/>
          </a:xfrm>
          <a:prstGeom xmlns:a="http://schemas.openxmlformats.org/drawingml/2006/main" prst="rect">
            <a:avLst/>
          </a:prstGeom>
        </p:spPr>
      </p:pic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65E547BB-3F15-42CC-A8BF-9AFF54B0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0050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2A541"/>
          </a:solidFill>
          <a:ln xmlns:a="http://schemas.openxmlformats.org/drawingml/2006/main" w="0">
            <a:noFill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0C9D65CF-162C-483B-A400-39B68553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10025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反射暗场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53CC5AA-9FA2-4B38-809A-CBFA11E9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10075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晶圆 / 光学表面缺陷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8AC0E97-E6E1-415A-9F2E-0F96D863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76800"/>
            <a:ext cx="2933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从上方斜照明；划痕与颗粒把光散射回物镜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F21ECF9B-7B90-48CF-933F-BA83D8A5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04950"/>
            <a:ext cx="3352800" cy="42481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CE5"/>
            </a:solidFill>
          </a:ln>
        </p:spPr>
      </p:sp>
      <p:pic>
        <p:nvPicPr>
          <p:cNvPr id="47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44496224845bc"/>
          <a:stretch xmlns:a="http://schemas.openxmlformats.org/drawingml/2006/main"/>
        </p:blipFill>
        <p:spPr>
          <a:xfrm xmlns:a="http://schemas.openxmlformats.org/drawingml/2006/main">
            <a:off x="8115300" y="1797201"/>
            <a:ext cx="3009900" cy="1911048"/>
          </a:xfrm>
          <a:prstGeom xmlns:a="http://schemas.openxmlformats.org/drawingml/2006/main" prst="rect">
            <a:avLst/>
          </a:prstGeom>
        </p:spPr>
      </p:pic>
      <p:sp>
        <p:nvSpPr>
          <p:cNvPr id="20" name="矩形: 圆角 19">
            <a:extLst xmlns:a="http://schemas.openxmlformats.org/drawingml/2006/main">
              <a:ext uri="{FF2B5EF4-FFF2-40B4-BE49-F238E27FC236}">
                <a16:creationId xmlns:a16="http://schemas.microsoft.com/office/drawing/2014/main" id="{8A641BFD-7CD9-4FDA-B884-DA7FD304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0050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4B6CE"/>
          </a:solidFill>
          <a:ln xmlns:a="http://schemas.openxmlformats.org/drawingml/2006/main" w="0">
            <a:noFill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E18E935-9BB5-47E5-B502-0007A66A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10025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TIR 暗场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49A29CC-2AFF-41E3-9885-59F7B696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10075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界面 / 单颗粒追踪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8ABC38F-9CE1-4851-9044-D3282A17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76800"/>
            <a:ext cx="2933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全反射产生倏逝场，把照明限制在界面附近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EF2D133-5DD1-40C0-9BF0-A0A02BBB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538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图源：Davidson 2002；Li et al., Chinese Optics Letters 2017；Enoki et al., PLOS ONE 2012</a:t>
            </a:r>
          </a:p>
        </p:txBody>
      </p:sp>
    </p:spTree>
    <p:extLst>
      <p:ext uri="{BB962C8B-B14F-4D97-AF65-F5344CB8AC3E}">
        <p14:creationId xmlns:p14="http://schemas.microsoft.com/office/powerpoint/2010/main" val="17913457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C8666725-280D-49ED-B214-CF7B0567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37A52A4-16E4-46D7-98B1-72CD0864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02 原理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B93FC83-2C1E-4D0E-8DC0-A6D8F7C0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图像亮度从哪里来？样品把光重新分配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073E63BD-0BB3-4792-83C2-4E26AE4B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E21E8B4-9646-478F-BF70-5C903A50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828" lnSpcReduction="1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0045A0C1-4A06-4942-97E1-516CB10B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3832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noFill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7842E9D-ECEF-46B4-8792-CBBFC439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050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5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CA778D3-9D3A-4C9C-ABEC-51904CC9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320" lnSpcReduction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入射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06F778C-E1CB-4AFA-8423-9D2710D8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高角度照明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5401D095-834B-4D72-83C8-7084CC12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09800"/>
            <a:ext cx="7048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BC10F69-BEF3-4E3C-ACA5-1FA8D174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1717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36" lnSpcReduction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0AD44304-DEA9-40C1-BC4B-7A3E0214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3832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B6CE"/>
          </a:solidFill>
          <a:ln xmlns:a="http://schemas.openxmlformats.org/drawingml/2006/main" w="0">
            <a:noFill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F264226-E1C0-46F7-9B35-8DEE439A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050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5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96137B8-2F12-4DC6-B41F-263E171B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908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320" lnSpcReduction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相互作用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D4352BA-ABC9-48A5-A06E-2BF91203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909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散射 / 折射 / 反射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B385D775-DF66-4716-ABA8-BBB2418B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9800"/>
            <a:ext cx="7048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994406D-489E-47C1-B435-F2E2473D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1717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36" lnSpcReduction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椭圆 17">
            <a:extLst xmlns:a="http://schemas.openxmlformats.org/drawingml/2006/main">
              <a:ext uri="{FF2B5EF4-FFF2-40B4-BE49-F238E27FC236}">
                <a16:creationId xmlns:a16="http://schemas.microsoft.com/office/drawing/2014/main" id="{19FF8FEB-E92C-47AD-824B-E0ADFF35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3832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3A8"/>
          </a:solidFill>
          <a:ln xmlns:a="http://schemas.openxmlformats.org/drawingml/2006/main" w="0">
            <a:noFill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552AB32-8695-47F4-AA27-D5AA70F1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050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5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23107A4-9BEB-4C48-A435-2B230CBA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908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320" lnSpcReduction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收集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079996F-77CF-4814-A922-3427D3B8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909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进入物镜 NA</a:t>
            </a:r>
          </a:p>
        </p:txBody>
      </p:sp>
      <p:sp>
        <p:nvSpPr>
          <p:cNvPr id="22" name="矩形: 圆角 21">
            <a:extLst xmlns:a="http://schemas.openxmlformats.org/drawingml/2006/main">
              <a:ext uri="{FF2B5EF4-FFF2-40B4-BE49-F238E27FC236}">
                <a16:creationId xmlns:a16="http://schemas.microsoft.com/office/drawing/2014/main" id="{3F014073-72FE-45EC-91F2-20DB5FB0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09800"/>
            <a:ext cx="7048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22654998-445A-4533-A5B2-6B6958EC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717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36" lnSpcReduction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椭圆 23">
            <a:extLst xmlns:a="http://schemas.openxmlformats.org/drawingml/2006/main">
              <a:ext uri="{FF2B5EF4-FFF2-40B4-BE49-F238E27FC236}">
                <a16:creationId xmlns:a16="http://schemas.microsoft.com/office/drawing/2014/main" id="{15F3C2EC-1512-424A-B27C-56D49AD4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83832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E5D5749-4BF1-4A5F-B1F2-C11817B3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10502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5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D5BB9FC2-35A0-4FB5-AC28-C58B2D04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908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320" lnSpcReduction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成像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615AF57A-06D1-4EDB-9896-20854C5C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909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点扩散函数 + 噪声</a:t>
            </a: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F2B33F89-4F18-497E-AD0A-F624B7F5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10668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9FC3AFB9-A2F9-4C07-9436-8311A7CF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386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909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rPr>
              <a:t>Rayleigh 小颗粒近似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8FBEF396-8086-434A-9B34-31727160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552950"/>
            <a:ext cx="2476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400" b="1">
                <a:solidFill>
                  <a:srgbClr val="173B6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B63"/>
                </a:solidFill>
                <a:latin typeface="Arial"/>
                <a:ea typeface="Arial"/>
                <a:cs typeface="Arial"/>
              </a:rPr>
              <a:t>Iscat ∝ d⁶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C4B5F2E-E574-4DFD-AAAB-5CD4CD28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72000"/>
            <a:ext cx="4724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粒径减半，散射信号约降为 1/64；但该标度并非对所有尺寸、形状和材料都成立。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B83E0AFE-3E2D-48F0-B391-02307B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538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定量边界：Olson et al., Chem. Soc. Rev. 2015; Meng et al., ACS Photonics 2021</a:t>
            </a:r>
          </a:p>
        </p:txBody>
      </p:sp>
    </p:spTree>
    <p:extLst>
      <p:ext uri="{BB962C8B-B14F-4D97-AF65-F5344CB8AC3E}">
        <p14:creationId xmlns:p14="http://schemas.microsoft.com/office/powerpoint/2010/main" val="13224456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D9E68078-2444-4D6F-BD8C-2D98EE85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C7DFC6A-A640-4509-BFEB-12A3F616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02 边界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0A70DB9-C681-41CC-B423-022F30C1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看见、定位、分辨：是三件不同的事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346EEF5C-89F9-4742-AF31-6A96286C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96E1FE-CAB7-4652-A43A-543C88F8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828" lnSpcReduction="1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AF993F20-121B-4BFD-8DAC-9D8B5CE9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0953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69308266-2AA9-4072-A050-2DC11ABE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22288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64B6CE"/>
          </a:solidFill>
          <a:ln xmlns:a="http://schemas.openxmlformats.org/drawingml/2006/main" w="0">
            <a:noFill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FEE7A7F-278F-45E4-BED3-B8B00B80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看见 Detection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816924B-C8CB-41DD-9792-19FFAA8A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526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背景上出现可信亮点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6927428-4C4B-4E4D-9DFE-8A0C148E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2407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213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信噪比 / 检出限</a:t>
            </a:r>
          </a:p>
        </p:txBody>
      </p:sp>
      <p:sp>
        <p:nvSpPr>
          <p:cNvPr id="11" name="椭圆 10">
            <a:extLst xmlns:a="http://schemas.openxmlformats.org/drawingml/2006/main">
              <a:ext uri="{FF2B5EF4-FFF2-40B4-BE49-F238E27FC236}">
                <a16:creationId xmlns:a16="http://schemas.microsoft.com/office/drawing/2014/main" id="{3F736EAC-8E8C-4110-A2F7-4097ACBB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145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64B6CE"/>
            </a:solidFill>
          </a:ln>
        </p:spPr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377DF0B8-27D1-4C2D-87E2-D37E45F1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10953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1B31EC3C-1102-4DD6-AF52-281D8462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22288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C73A8"/>
          </a:solidFill>
          <a:ln xmlns:a="http://schemas.openxmlformats.org/drawingml/2006/main" w="0">
            <a:noFill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DF6AFCB-1C18-4F25-991B-E330AD01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 Localization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E1CBE98-1E03-4EC0-8A1B-32E35906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527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估计亮点中心坐标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B51AD1F-B6F2-4A25-8CB3-35E174DC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242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213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定位精度 / 轨迹</a:t>
            </a:r>
          </a:p>
        </p:txBody>
      </p:sp>
      <p:sp>
        <p:nvSpPr>
          <p:cNvPr id="17" name="椭圆 16">
            <a:extLst xmlns:a="http://schemas.openxmlformats.org/drawingml/2006/main">
              <a:ext uri="{FF2B5EF4-FFF2-40B4-BE49-F238E27FC236}">
                <a16:creationId xmlns:a16="http://schemas.microsoft.com/office/drawing/2014/main" id="{07EAFD1F-A7CF-4D35-BEC1-20EC15E6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114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2C73A8"/>
            </a:solidFill>
          </a:ln>
        </p:spPr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623C89EB-A3E1-48FA-86C4-65BAD47F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81450"/>
            <a:ext cx="10953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19" name="矩形: 圆角 18">
            <a:extLst xmlns:a="http://schemas.openxmlformats.org/drawingml/2006/main">
              <a:ext uri="{FF2B5EF4-FFF2-40B4-BE49-F238E27FC236}">
                <a16:creationId xmlns:a16="http://schemas.microsoft.com/office/drawing/2014/main" id="{CEFB1094-F580-4E5A-AD00-D3C60229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81450"/>
            <a:ext cx="22288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A541"/>
          </a:solidFill>
          <a:ln xmlns:a="http://schemas.openxmlformats.org/drawingml/2006/main" w="0">
            <a:noFill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0732726-48C3-4998-829A-D1E77AA7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分辨 Resolution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1E65B64-5684-401B-89CB-504939A1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529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区分相邻结构或真实形状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93E50314-C82E-4204-BECB-06167F23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52437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213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点扩散函数 / Rayleigh判据</a:t>
            </a:r>
          </a:p>
        </p:txBody>
      </p:sp>
      <p:sp>
        <p:nvSpPr>
          <p:cNvPr id="23" name="椭圆 22">
            <a:extLst xmlns:a="http://schemas.openxmlformats.org/drawingml/2006/main">
              <a:ext uri="{FF2B5EF4-FFF2-40B4-BE49-F238E27FC236}">
                <a16:creationId xmlns:a16="http://schemas.microsoft.com/office/drawing/2014/main" id="{BD7E3287-12E2-4AD1-9CE2-359EFB3C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3148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F2A541"/>
            </a:solidFill>
          </a:ln>
        </p:spPr>
      </p:sp>
      <p:sp>
        <p:nvSpPr>
          <p:cNvPr id="24" name="椭圆 23">
            <a:extLst xmlns:a="http://schemas.openxmlformats.org/drawingml/2006/main">
              <a:ext uri="{FF2B5EF4-FFF2-40B4-BE49-F238E27FC236}">
                <a16:creationId xmlns:a16="http://schemas.microsoft.com/office/drawing/2014/main" id="{E281264E-28E7-4D1C-8F33-156ACF3A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3148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F2A541"/>
            </a:solidFill>
          </a:ln>
        </p:spPr>
      </p:sp>
      <p:sp>
        <p:nvSpPr>
          <p:cNvPr id="25" name="矩形: 圆角 24">
            <a:extLst xmlns:a="http://schemas.openxmlformats.org/drawingml/2006/main">
              <a:ext uri="{FF2B5EF4-FFF2-40B4-BE49-F238E27FC236}">
                <a16:creationId xmlns:a16="http://schemas.microsoft.com/office/drawing/2014/main" id="{5E7BC78C-C708-4B5F-9335-3355BB57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91150"/>
            <a:ext cx="10953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D018D63C-8EE5-4996-BEBD-997A6A6C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673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暗场主要提高“看见”的概率；后续算法可改善定位，但不会自动改变物镜的衍射分辨率。</a:t>
            </a:r>
          </a:p>
        </p:txBody>
      </p:sp>
    </p:spTree>
    <p:extLst>
      <p:ext uri="{BB962C8B-B14F-4D97-AF65-F5344CB8AC3E}">
        <p14:creationId xmlns:p14="http://schemas.microsoft.com/office/powerpoint/2010/main" val="20594257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000A2527-11B6-4495-8092-A7ECF916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A3D23A0-B010-4FFD-AC6F-8BF394C6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03 演化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0C2C362-8DF9-490C-94E9-8D19FE58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技术演化</a:t>
            </a: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进程</a:t>
            </a:r>
            <a:endParaRPr sz="2550" b="1">
              <a:solidFill>
                <a:srgbClr val="173B6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729575B8-CD01-412E-B484-C63DCC21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593EBE4-3C24-487C-AB88-2F3BB0F3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828" lnSpcReduction="1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686F7130-2519-4D09-9A7B-3A15CB90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CBDCE5"/>
            </a:solidFill>
            <a:prstDash val="solid"/>
          </a:ln>
        </p:spPr>
      </p:sp>
      <p:sp>
        <p:nvSpPr>
          <p:cNvPr id="7" name="椭圆 6">
            <a:extLst xmlns:a="http://schemas.openxmlformats.org/drawingml/2006/main">
              <a:ext uri="{FF2B5EF4-FFF2-40B4-BE49-F238E27FC236}">
                <a16:creationId xmlns:a16="http://schemas.microsoft.com/office/drawing/2014/main" id="{2171B009-FB6C-4DF4-9C20-AD8A6033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813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B9794AC-8221-48F4-A514-733C31AA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8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1902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1BDEA74-24A5-4F9A-830D-0FAFC4B2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侧向超显微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74E74BFE-26EC-4795-A6AF-8BAEF35F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21145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CB0CB8A8-9B54-49C3-8558-BBBB4E5F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A0BD733-4114-47A7-B7A7-5E75875C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瓶颈：直射光太强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2E220F4-6F0C-4D80-BA72-849A66AE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照明与观察方向分离</a:t>
            </a:r>
          </a:p>
        </p:txBody>
      </p:sp>
      <p:sp>
        <p:nvSpPr>
          <p:cNvPr id="14" name="椭圆 13">
            <a:extLst xmlns:a="http://schemas.openxmlformats.org/drawingml/2006/main">
              <a:ext uri="{FF2B5EF4-FFF2-40B4-BE49-F238E27FC236}">
                <a16:creationId xmlns:a16="http://schemas.microsoft.com/office/drawing/2014/main" id="{E2465F4D-2CCF-4FF8-B7B2-17893555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9813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3A8"/>
          </a:solidFill>
          <a:ln xmlns:a="http://schemas.openxmlformats.org/drawingml/2006/main" w="0">
            <a:noFill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4F4227A-E4DE-4CC2-B309-2CD33E77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669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8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环形聚光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3BC2ADD-A14F-462C-8A37-6DA00A49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669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透射暗场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0A0E2997-B279-4071-992A-493BFCC4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33800"/>
            <a:ext cx="21145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67B7BC6E-24D9-4EC5-A099-FF126863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3380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3A8"/>
          </a:solidFill>
          <a:ln xmlns:a="http://schemas.openxmlformats.org/drawingml/2006/main" w="0">
            <a:noFill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0FDB99C-C86F-4437-8DB1-427A32A1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29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瓶颈：视场与对中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90ABB11-0666-4120-8075-4037D81C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5290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把高角照明整合进显微镜</a:t>
            </a:r>
          </a:p>
        </p:txBody>
      </p:sp>
      <p:sp>
        <p:nvSpPr>
          <p:cNvPr id="21" name="椭圆 20">
            <a:extLst xmlns:a="http://schemas.openxmlformats.org/drawingml/2006/main">
              <a:ext uri="{FF2B5EF4-FFF2-40B4-BE49-F238E27FC236}">
                <a16:creationId xmlns:a16="http://schemas.microsoft.com/office/drawing/2014/main" id="{EF8803F9-7268-4D4B-9004-9A3C541F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813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B6CE"/>
          </a:solidFill>
          <a:ln xmlns:a="http://schemas.openxmlformats.org/drawingml/2006/main" w="0">
            <a:noFill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3C8C52F-5856-493C-90A4-74598703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669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8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TIR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7335D366-AE9C-42A5-AF62-6F5EF4A1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669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界面暗场</a:t>
            </a:r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F976B55B-1B82-46D7-AB63-4C22C110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21145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25" name="矩形: 圆角 24">
            <a:extLst xmlns:a="http://schemas.openxmlformats.org/drawingml/2006/main">
              <a:ext uri="{FF2B5EF4-FFF2-40B4-BE49-F238E27FC236}">
                <a16:creationId xmlns:a16="http://schemas.microsoft.com/office/drawing/2014/main" id="{6B8699AE-FA7A-4C95-9299-F42E0617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B6CE"/>
          </a:solidFill>
          <a:ln xmlns:a="http://schemas.openxmlformats.org/drawingml/2006/main" w="0">
            <a:noFill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5CA4A336-869C-471C-AC4E-85773693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29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瓶颈：体相背景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217B1A4C-8D5C-4FEF-A57F-77B51FF4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只照亮界面附近</a:t>
            </a:r>
          </a:p>
        </p:txBody>
      </p:sp>
      <p:sp>
        <p:nvSpPr>
          <p:cNvPr id="28" name="椭圆 27">
            <a:extLst xmlns:a="http://schemas.openxmlformats.org/drawingml/2006/main">
              <a:ext uri="{FF2B5EF4-FFF2-40B4-BE49-F238E27FC236}">
                <a16:creationId xmlns:a16="http://schemas.microsoft.com/office/drawing/2014/main" id="{4BB8BAA0-206D-4613-A1E1-2356A2D4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813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noFill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C7883BAE-BADA-4E0E-8D69-3F4F72ED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669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8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高光谱 / 计算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C8582DA-0C76-4BB4-901B-8A76B3BD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6695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定量暗场</a:t>
            </a:r>
          </a:p>
        </p:txBody>
      </p:sp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C9460214-3CFD-4D56-8DC1-63C4C5CF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33800"/>
            <a:ext cx="21145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6742AC25-A740-47F5-A540-4D4C70B5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33800"/>
            <a:ext cx="66675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541"/>
          </a:solidFill>
          <a:ln xmlns:a="http://schemas.openxmlformats.org/drawingml/2006/main" w="0">
            <a:noFill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50D77EF-0850-4AF0-B34C-7A66D5D0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29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瓶颈：亮点缺少身份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2A466685-55D2-4F4B-BC0C-51AEF694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52900"/>
            <a:ext cx="171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用光谱、轨迹和模型赋值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F11897AD-8E06-4891-91BA-BC8FC539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2450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主线：背景来源改变 → 光路策略改变 → 可测量指标改变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D56CD7E2-B52D-4A12-97B2-08DFF654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538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历史起点：Siedentopf &amp; Zsigmondy 1902；现代路线：Priest et al. 2021</a:t>
            </a:r>
          </a:p>
        </p:txBody>
      </p:sp>
    </p:spTree>
    <p:extLst>
      <p:ext uri="{BB962C8B-B14F-4D97-AF65-F5344CB8AC3E}">
        <p14:creationId xmlns:p14="http://schemas.microsoft.com/office/powerpoint/2010/main" val="19945552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367061E-AED9-4A7B-BBB9-ADD96817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50B24DF-BA6C-442E-9E6C-057129EA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04 应用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6E5A429-454A-453A-B175-94AF133C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案例 1｜无标记流感病毒：亮点计数 → 浓度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FBCE0AC0-A2C3-47CD-B616-622EB7B3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2A4F910-FA16-48BE-B5F7-A300B630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828" lnSpcReduction="1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8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b6a00239444ed"/>
          <a:stretch xmlns:a="http://schemas.openxmlformats.org/drawingml/2006/main"/>
        </p:blipFill>
        <p:spPr>
          <a:xfrm xmlns:a="http://schemas.openxmlformats.org/drawingml/2006/main">
            <a:off x="1097365" y="1504950"/>
            <a:ext cx="5463369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48844862-0AE1-41AB-8FD6-4266470B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57350"/>
            <a:ext cx="3714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BC79B7E6-B305-4AD8-BBD5-D9CEC946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57350"/>
            <a:ext cx="66675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3A8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7E714D1-D82A-46E0-A025-D355E0A7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5260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对象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DC5F998-8F84-4201-BDC4-D1E612BE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76450"/>
            <a:ext cx="331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约 100 nm 流感病毒颗粒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AD5DAF59-E60D-4C95-B5C1-2FF55814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19400"/>
            <a:ext cx="3714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461205D9-73BA-437D-A8EA-3191EF97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19400"/>
            <a:ext cx="66675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B6CE"/>
          </a:solidFill>
          <a:ln xmlns:a="http://schemas.openxmlformats.org/drawingml/2006/main" w="0">
            <a:noFill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01C2752-2DC4-4D2B-994F-6F636BA3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1465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0B7BEAA-447C-4D01-B717-43E5F77D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38500"/>
            <a:ext cx="331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物镜型 TIR 暗场，压低体相背景</a:t>
            </a:r>
          </a:p>
        </p:txBody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562A4E62-C8C6-47E1-A89A-1BB6C749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81450"/>
            <a:ext cx="3714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2A3A87C8-4B5B-4D43-8A31-1BBE0025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81450"/>
            <a:ext cx="66675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541"/>
          </a:solidFill>
          <a:ln xmlns:a="http://schemas.openxmlformats.org/drawingml/2006/main" w="0">
            <a:noFill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DEF8BF0-86E8-49FC-9998-66D4CC3E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7670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论文数据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A5763E4-2EA6-4846-A668-56C119C3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00550"/>
            <a:ext cx="331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报告检出限 1.2 × 10⁴ PFU/mL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601DE60-4C1D-4AED-83C2-999F1DCF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81600"/>
            <a:ext cx="371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C95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95A5A"/>
                </a:solidFill>
                <a:latin typeface="Microsoft YaHei"/>
                <a:ea typeface="Microsoft YaHei"/>
                <a:cs typeface="Microsoft YaHei"/>
              </a:rPr>
              <a:t>注意：PFU/mL 表示感染性滴度；亮点数不应简单等同于病毒总颗粒数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E23DF37-5BEC-4C85-AC19-A7CA8578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538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Enoki et al., PLOS ONE 7(11):e49208 (2012), CC BY；doi:10.1371/journal.pone.0049208</a:t>
            </a:r>
          </a:p>
        </p:txBody>
      </p:sp>
    </p:spTree>
    <p:extLst>
      <p:ext uri="{BB962C8B-B14F-4D97-AF65-F5344CB8AC3E}">
        <p14:creationId xmlns:p14="http://schemas.microsoft.com/office/powerpoint/2010/main" val="1029158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A0A6FFB-87CD-41D7-9950-6C5A0642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4F25739-752C-41DC-8726-6FEC29B7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04 应用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BFD65A7-5BFF-4E1E-9E2B-BF3DEC7A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案例 2｜单颗粒追踪：暗场亮点 → 纳米轨迹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2310A2DB-11BC-4875-A5A0-B0FA27D9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D4183B-6F84-4E50-8973-A9ACA850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828" lnSpcReduction="1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24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c502c7f4fa4183"/>
          <a:stretch xmlns:a="http://schemas.openxmlformats.org/drawingml/2006/main"/>
        </p:blipFill>
        <p:spPr>
          <a:xfrm xmlns:a="http://schemas.openxmlformats.org/drawingml/2006/main">
            <a:off x="514350" y="1581883"/>
            <a:ext cx="5905500" cy="3179885"/>
          </a:xfrm>
          <a:prstGeom xmlns:a="http://schemas.openxmlformats.org/drawingml/2006/main" prst="rect">
            <a:avLst/>
          </a:prstGeom>
        </p:spPr>
      </p:pic>
      <p:pic>
        <p:nvPicPr>
          <p:cNvPr id="25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1c32c11ab444d"/>
          <a:stretch xmlns:a="http://schemas.openxmlformats.org/drawingml/2006/main"/>
        </p:blipFill>
        <p:spPr>
          <a:xfrm xmlns:a="http://schemas.openxmlformats.org/drawingml/2006/main">
            <a:off x="6705600" y="1604596"/>
            <a:ext cx="4762500" cy="2601058"/>
          </a:xfrm>
          <a:prstGeom xmlns:a="http://schemas.openxmlformats.org/drawingml/2006/main" prst="rect">
            <a:avLst/>
          </a:prstGeom>
        </p:spPr>
      </p:pic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19228014-786E-4262-862F-ADA94F59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12954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2A541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1AA320F-2225-4108-AAB4-D6AA3AB6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244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 nm AuNPs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B6C188B5-CC02-49B8-88E8-18B2FE45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914900"/>
            <a:ext cx="1371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C73A8"/>
          </a:solidFill>
          <a:ln xmlns:a="http://schemas.openxmlformats.org/drawingml/2006/main" w="0">
            <a:noFill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EC20865-C845-4492-BE64-D8D65CC6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924425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 μs exposure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4CC582CE-A5C4-43FD-9497-90AF5A55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914900"/>
            <a:ext cx="19050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4B6CE"/>
          </a:solidFill>
          <a:ln xmlns:a="http://schemas.openxmlformats.org/drawingml/2006/main" w="0">
            <a:noFill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29582E4-3E28-427D-840F-3AF42178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924425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~4 nm 定位分布直径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34E9997-8EF8-4D9B-9257-16EDBBF7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52950"/>
            <a:ext cx="4552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这些数值是在特定光功率、曝光与拟合条件下得到的；“4 nm”是定位分布，不是成像分辨率。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4B820ED-22F6-46C1-AC1E-AC32B91C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538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Meng et al., ACS Photonics 8, 3111–3118 (2021), Figs. 1–2；doi:10.1021/acsphotonics.1c01268</a:t>
            </a:r>
          </a:p>
        </p:txBody>
      </p:sp>
    </p:spTree>
    <p:extLst>
      <p:ext uri="{BB962C8B-B14F-4D97-AF65-F5344CB8AC3E}">
        <p14:creationId xmlns:p14="http://schemas.microsoft.com/office/powerpoint/2010/main" val="13090261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1A7AF2C3-0B78-4966-B996-4585FDB9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8453036-3F51-4B12-ACE9-BE5E69B3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04 应用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51777D7-39F8-45DE-A1FE-AC357BC6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案例 3｜高光谱暗场：从“亮不亮”到“散射谱是什么”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3EC84DD3-8BA6-4A05-9E3F-F9F19D09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E69E81F-DBB5-45B6-ADE3-C32D44B2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828" lnSpcReduction="1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8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0f63e9f97f4f3d"/>
          <a:stretch xmlns:a="http://schemas.openxmlformats.org/drawingml/2006/main"/>
        </p:blipFill>
        <p:spPr>
          <a:xfrm xmlns:a="http://schemas.openxmlformats.org/drawingml/2006/main">
            <a:off x="521154" y="1543050"/>
            <a:ext cx="6939643" cy="4000500"/>
          </a:xfrm>
          <a:prstGeom xmlns:a="http://schemas.openxmlformats.org/drawingml/2006/main" prst="rect">
            <a:avLst/>
          </a:prstGeom>
        </p:spPr>
      </p:pic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A9D7D2B3-3A3F-47A3-B09F-B0FB1200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19250"/>
            <a:ext cx="32956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3C9A70C3-45E6-4952-9AFA-2C438FCF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19250"/>
            <a:ext cx="66675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3A8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E566795-B430-4656-9D62-1D4E5939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空间图像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184C7B0-EECD-464B-91FD-9B75B1D0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383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定位颗粒或细胞区域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529B3A6A-F6D2-4464-8D36-6AE31724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38450"/>
            <a:ext cx="32956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AC27B30C-D973-48D9-8571-DF2A5125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38450"/>
            <a:ext cx="66675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B6CE"/>
          </a:solidFill>
          <a:ln xmlns:a="http://schemas.openxmlformats.org/drawingml/2006/main" w="0">
            <a:noFill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4200495-6A02-4251-A0E1-8A5B800E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3370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光谱维度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BEA8B50-F100-44BE-8D85-EF5C275B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575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读取每个像素的散射谱</a:t>
            </a:r>
          </a:p>
        </p:txBody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151CC35B-DF5C-4309-8CB6-F111B260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57650"/>
            <a:ext cx="32956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73C63F0D-DE70-4020-9D13-472237C1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57650"/>
            <a:ext cx="66675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541"/>
          </a:solidFill>
          <a:ln xmlns:a="http://schemas.openxmlformats.org/drawingml/2006/main" w="0">
            <a:noFill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D4855A4-D3F8-4F77-B804-B2639D36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5290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模型/标定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9150119-9E82-4078-97DD-FC803C1C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76750"/>
            <a:ext cx="2895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关联尺寸、聚集与环境变化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3E2FB12-FE05-433F-AEDD-15D7925A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429250"/>
            <a:ext cx="3295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C95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95A5A"/>
                </a:solidFill>
                <a:latin typeface="Microsoft YaHei"/>
                <a:ea typeface="Microsoft YaHei"/>
                <a:cs typeface="Microsoft YaHei"/>
              </a:rPr>
              <a:t>测到的是“系统响应过滤后的相对散射谱”，定量前要校正灯谱、暗计数与基底。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8BEB89B-D377-4998-9B1F-D274D811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538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Zamora-Perez et al., Materials 11, 243 (2018), CC BY；doi:10.3390/ma11020243</a:t>
            </a:r>
          </a:p>
        </p:txBody>
      </p:sp>
    </p:spTree>
    <p:extLst>
      <p:ext uri="{BB962C8B-B14F-4D97-AF65-F5344CB8AC3E}">
        <p14:creationId xmlns:p14="http://schemas.microsoft.com/office/powerpoint/2010/main" val="14940846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E19EB19-3DE5-48FE-B688-112C1324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FA3B866-03B9-412D-B31C-64920853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04 应用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10253B2-E8C8-494B-AB07-5D95808F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案例 4｜浅划痕检测：缺陷把斜入射光散射回来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AE44AD2E-C996-4FCC-9E7E-C997D8CA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46F4EF3-1C63-4E9D-8CF6-0BBC6925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828" lnSpcReduction="1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30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35ef20efa54510"/>
          <a:stretch xmlns:a="http://schemas.openxmlformats.org/drawingml/2006/main"/>
        </p:blipFill>
        <p:spPr>
          <a:xfrm xmlns:a="http://schemas.openxmlformats.org/drawingml/2006/main">
            <a:off x="1083222" y="1466850"/>
            <a:ext cx="3586655" cy="4457700"/>
          </a:xfrm>
          <a:prstGeom xmlns:a="http://schemas.openxmlformats.org/drawingml/2006/main" prst="rect">
            <a:avLst/>
          </a:prstGeom>
        </p:spPr>
      </p:pic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E757AB6-8168-4F4C-BE0F-6E2B89AC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002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5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为什么适合缺陷分析？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B0687272-BE42-4532-83A4-8AAAFE6E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9800"/>
            <a:ext cx="52959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D9CB730D-EC90-4235-8588-6D277AC2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9800"/>
            <a:ext cx="66675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73A8"/>
          </a:solidFill>
          <a:ln xmlns:a="http://schemas.openxmlformats.org/drawingml/2006/main" w="0">
            <a:noFill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6CD04E5-F370-4D58-8987-F9F0810B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05050"/>
            <a:ext cx="489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AD9BE0BF-E646-43A1-BDBE-C1474E66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28900"/>
            <a:ext cx="489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完好镜面主要把光反射到物镜之外</a:t>
            </a:r>
          </a:p>
        </p:txBody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0465B5C4-A7E0-4FFF-9312-A31BB483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19450"/>
            <a:ext cx="52959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9BD9E84E-ACB5-483D-81D1-84326BB2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19450"/>
            <a:ext cx="66675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4B6CE"/>
          </a:solidFill>
          <a:ln xmlns:a="http://schemas.openxmlformats.org/drawingml/2006/main" w="0">
            <a:noFill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BC20EC3E-207D-476C-8D76-478EAE25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14700"/>
            <a:ext cx="489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缺陷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C529FE2-0CA7-447B-81AD-4490A4C1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38550"/>
            <a:ext cx="489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划痕边缘与粗糙区把光散射进相机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0D0CF73A-BCCA-4F03-9390-8B9A8778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29100"/>
            <a:ext cx="52959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0DECC85B-53A5-4CCC-9C54-0C4D2ECB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29100"/>
            <a:ext cx="66675" cy="85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541"/>
          </a:solidFill>
          <a:ln xmlns:a="http://schemas.openxmlformats.org/drawingml/2006/main" w="0">
            <a:noFill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4CA7B5A-2122-4FBD-9113-BCC869FD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24350"/>
            <a:ext cx="489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算法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D8C1A78-65C5-45A5-8C7B-E2EA39D4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48200"/>
            <a:ext cx="489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自适应平滑 + 形态学差分分离浅划痕</a:t>
            </a:r>
          </a:p>
        </p:txBody>
      </p:sp>
      <p:sp>
        <p:nvSpPr>
          <p:cNvPr id="20" name="矩形: 圆角 19">
            <a:extLst xmlns:a="http://schemas.openxmlformats.org/drawingml/2006/main">
              <a:ext uri="{FF2B5EF4-FFF2-40B4-BE49-F238E27FC236}">
                <a16:creationId xmlns:a16="http://schemas.microsoft.com/office/drawing/2014/main" id="{A320E749-81E1-4A04-B323-E3E42C76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76850"/>
            <a:ext cx="52959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8A96A3A-5373-4DFB-BF2C-6DEEEC9C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53050"/>
            <a:ext cx="491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论文实验：浅划痕检出率约 82%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3ACE16C-0D96-4A77-A63E-DAC6B34C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538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Li et al., Chinese Optics Letters 15, 081202 (2017)；doi:10.3788/COL201715.081202</a:t>
            </a:r>
          </a:p>
        </p:txBody>
      </p:sp>
    </p:spTree>
    <p:extLst>
      <p:ext uri="{BB962C8B-B14F-4D97-AF65-F5344CB8AC3E}">
        <p14:creationId xmlns:p14="http://schemas.microsoft.com/office/powerpoint/2010/main" val="15998898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2224C049-B88E-4CA3-A38A-BBDBB130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F606BAA-2A05-47E4-8B4A-F5B58F3A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04 选择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306FA20-BCBB-4480-9597-A2166D13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暗场不是万能：按问题选择相关技术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D5DBEB8E-999E-47B2-98FD-9AE3CCA8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6A8F9E6-70B5-4DDD-9D2C-4640114C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828" lnSpcReduction="1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EB85016-C5AA-4B84-A464-A33DC811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6FC0BC5-71E6-439E-B3D2-9D5DD4FE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B3EB15B-BD0F-4B6A-804E-608F3430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504950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3276742-C836-4DBC-ACA7-3335F99B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5621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最擅长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C65C85C-2B36-445F-AACB-BA8ED321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04950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84C786F-E2E6-41EE-B497-FDF4FFA5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5621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主要代价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1A8D02A-FC4A-4931-9B4F-6A6F431B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04950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D4E2DAC-786E-4A87-97AF-825389CB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6210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适合回答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49A3001-02B6-477E-BED4-BDD7CD52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504950"/>
            <a:ext cx="971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00F0932-E189-4367-8F82-4D3D6930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562100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与暗场关系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1E3FCB8-2CF0-4205-99F1-28DD63F9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62150"/>
            <a:ext cx="2324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2D1ABD9-EAF8-421F-9891-DFF956BC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2171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暗场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729A36F-B230-4716-9329-E00B4BA8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62150"/>
            <a:ext cx="2324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151D84E-95A2-4F08-9F70-7197EF04F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38350"/>
            <a:ext cx="2171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弱散射可见度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7EFC738C-EDE4-4004-AC01-6A2A9BDF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962150"/>
            <a:ext cx="2324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2BAB68D-E522-4091-A5C4-7AF38356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038350"/>
            <a:ext cx="2171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缺少化学特异性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61E1401-49F1-4D5E-B5D7-B20C9E0A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62150"/>
            <a:ext cx="2324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244AA53-05ED-4324-88B0-32DD29E9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38350"/>
            <a:ext cx="2171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有没有颗粒/缺陷？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C83142C5-4BFD-497D-9DB5-69832984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962150"/>
            <a:ext cx="9715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BFA6D3CE-BDDE-44A1-917C-39FFFD1D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38350"/>
            <a:ext cx="81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基线方案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ACC8C6AC-59A9-4D07-89D2-0ED952A4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2324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AA0A42DF-ED03-4C4F-A79E-22FD1CFD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33700"/>
            <a:ext cx="2171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相差 / DIC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EF62C422-0812-412A-A6F3-4D01FDAE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57500"/>
            <a:ext cx="2324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941A89C4-B42A-4DA0-8177-A9F6D6B2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33700"/>
            <a:ext cx="2171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透明相位结构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8FB0EEE7-1EC8-4388-B447-D61A78D0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57500"/>
            <a:ext cx="2324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A4FF44BC-5837-40DA-A856-92DE245C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33700"/>
            <a:ext cx="2171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定量解释复杂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760D5721-2465-4D72-9FB8-EBD61892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57500"/>
            <a:ext cx="2324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2D652996-E7BF-478A-B3C3-FA1638346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33700"/>
            <a:ext cx="2171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细胞内部轮廓？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58F911B-1D50-4B07-920B-2A13893F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857500"/>
            <a:ext cx="9715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AAA9715A-5348-4A8C-94CE-1079BEDF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33700"/>
            <a:ext cx="81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互补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AD72172A-6BB4-4E7E-BD61-080DC915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52850"/>
            <a:ext cx="2324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2542AD86-CAFC-41DE-B7BE-A3768CBC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2171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荧光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E0CE50EC-4820-4955-ABF2-97FFF835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52850"/>
            <a:ext cx="2324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20C055CA-BC47-4FCB-93DB-C746F2E4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829050"/>
            <a:ext cx="2171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分子特异性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E347FE75-3F7D-4236-81B6-E9D97C60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52850"/>
            <a:ext cx="2324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8CC7485D-659D-41B2-8369-A91C5123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29050"/>
            <a:ext cx="2171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标记与漂白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5FBB0C07-EEB7-49B3-B1F5-6A5DA97E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52850"/>
            <a:ext cx="2324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84A204D1-A0CF-463C-B8A3-69D5D438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29050"/>
            <a:ext cx="2171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它是谁？在哪里？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E45B117-55BE-43C6-A40F-3E2AFCB8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752850"/>
            <a:ext cx="9715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8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FCB0D535-0B14-4548-9254-076C8A97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29050"/>
            <a:ext cx="81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验证身份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A3E2E54D-8681-482F-9F95-77BDCA75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2324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D28CD42F-36B1-49F3-AFC3-EB691EB7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24400"/>
            <a:ext cx="2171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iSCAT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0C1701B6-103D-4D8C-B3D0-53F4BB79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648200"/>
            <a:ext cx="2324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474EBB10-838E-4E9A-B871-BFC59FBD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724400"/>
            <a:ext cx="2171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极弱散射灵敏度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0BA85E65-F0B1-4697-A0B5-F365068F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48200"/>
            <a:ext cx="2324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E11C93A9-15E8-43F3-88AB-33E18A67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724400"/>
            <a:ext cx="2171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相位背景与条纹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FC26994A-B433-4984-AC53-69090AF6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48200"/>
            <a:ext cx="2324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026BD242-EBD3-4C55-8959-939F71E8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24400"/>
            <a:ext cx="2171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更小颗粒/蛋白？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472CE242-8F69-4638-89DC-079983D4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48200"/>
            <a:ext cx="9715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F0A732AE-F908-4457-B1DF-F172CBE7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724400"/>
            <a:ext cx="819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干涉增强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3CDDFCE1-7BBB-4726-A18E-A6603634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538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技术框架参考：Priest et al., Chemical Reviews 2021</a:t>
            </a:r>
          </a:p>
        </p:txBody>
      </p:sp>
    </p:spTree>
    <p:extLst>
      <p:ext uri="{BB962C8B-B14F-4D97-AF65-F5344CB8AC3E}">
        <p14:creationId xmlns:p14="http://schemas.microsoft.com/office/powerpoint/2010/main" val="12687897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661EAE0B-FE5D-4033-9EA8-75F8EAFE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BAC4D74-3042-4983-85D9-E2E86219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05 局限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9E5B7B8-03DD-490C-852D-65D7B9F1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导致效果不明的可能性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DC1724DE-FB82-4ABB-8640-15D11EC0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5F08750-1F48-4BF2-B48D-71E9925E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828" lnSpcReduction="1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F949907F-E23F-46E5-BADF-565B24C6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52197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7" name="矩形: 圆角 6">
            <a:extLst xmlns:a="http://schemas.openxmlformats.org/drawingml/2006/main">
              <a:ext uri="{FF2B5EF4-FFF2-40B4-BE49-F238E27FC236}">
                <a16:creationId xmlns:a16="http://schemas.microsoft.com/office/drawing/2014/main" id="{184B3EFB-8933-456D-8C9B-A10F4156F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5219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95A5A"/>
          </a:solidFill>
          <a:ln xmlns:a="http://schemas.openxmlformats.org/drawingml/2006/main" w="0">
            <a:noFill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F235DB4-395C-4A3A-B5B1-70EB05D3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背景不黑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29CD146-1286-4B47-B445-2B1BF3F4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风险｜灰尘、指纹、盖玻片粗糙度都会散射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18CF1E7-F8E9-4710-AE7E-A3530678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3D8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B7D"/>
                </a:solidFill>
                <a:latin typeface="Microsoft YaHei"/>
                <a:ea typeface="Microsoft YaHei"/>
                <a:cs typeface="Microsoft YaHei"/>
              </a:rPr>
              <a:t>控制｜清洁 + 空白视野 + 背景扣除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D3F5880A-5DBA-4E94-9035-2DCB373E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62100"/>
            <a:ext cx="52197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ACD1AD05-C231-4E49-B029-3A1EAB56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62100"/>
            <a:ext cx="5219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A541"/>
          </a:solidFill>
          <a:ln xmlns:a="http://schemas.openxmlformats.org/drawingml/2006/main" w="0">
            <a:noFill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45BB630-B2AB-4CD5-BA10-48D261D7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19250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亮点不等于目标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AFC3203-073C-4C9D-8C7A-15F6F636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526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风险｜非特异颗粒与气泡同样会亮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AB924E2-61C0-476A-B389-2BEF82EA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3D8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B7D"/>
                </a:solidFill>
                <a:latin typeface="Microsoft YaHei"/>
                <a:ea typeface="Microsoft YaHei"/>
                <a:cs typeface="Microsoft YaHei"/>
              </a:rPr>
              <a:t>控制｜对照组 + 特异性验证</a:t>
            </a: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55FF2565-34A1-451C-BE76-0962A193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1400"/>
            <a:ext cx="52197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3392A80D-6163-48D9-829D-AD17870F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1400"/>
            <a:ext cx="5219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C73A8"/>
          </a:solidFill>
          <a:ln xmlns:a="http://schemas.openxmlformats.org/drawingml/2006/main" w="0">
            <a:noFill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165E461-E67A-4A31-977D-A46AC98A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亮度不等于厚度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3345931-65B2-4AE2-BBFB-81F1B8AF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风险｜强度受尺寸、材料、角度和焦面共同影响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7ADEF450-9F98-4F6B-8652-71EE760A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3D8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B7D"/>
                </a:solidFill>
                <a:latin typeface="Microsoft YaHei"/>
                <a:ea typeface="Microsoft YaHei"/>
                <a:cs typeface="Microsoft YaHei"/>
              </a:rPr>
              <a:t>控制｜标定曲线 + 固定几何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7A573BFC-FF28-4F77-BDF8-8D076ADB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81400"/>
            <a:ext cx="52197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CE5"/>
            </a:solidFill>
          </a:ln>
        </p:spPr>
      </p:sp>
      <p:sp>
        <p:nvSpPr>
          <p:cNvPr id="22" name="矩形: 圆角 21">
            <a:extLst xmlns:a="http://schemas.openxmlformats.org/drawingml/2006/main">
              <a:ext uri="{FF2B5EF4-FFF2-40B4-BE49-F238E27FC236}">
                <a16:creationId xmlns:a16="http://schemas.microsoft.com/office/drawing/2014/main" id="{4A107BC6-AF54-4B50-A569-10D9E7E1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81400"/>
            <a:ext cx="52197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4B6CE"/>
          </a:solidFill>
          <a:ln xmlns:a="http://schemas.openxmlformats.org/drawingml/2006/main" w="0">
            <a:noFill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F2E646E-A585-42C5-91FC-967FF269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38550"/>
            <a:ext cx="487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颜色不等于真色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8548F22-652F-4DBB-AC2C-C1B825CD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风险｜光谱受灯、物镜NA和相机响应过滤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E365562-6312-46DD-8F94-123DDB30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86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3D8B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B7D"/>
                </a:solidFill>
                <a:latin typeface="Microsoft YaHei"/>
                <a:ea typeface="Microsoft YaHei"/>
                <a:cs typeface="Microsoft YaHei"/>
              </a:rPr>
              <a:t>控制｜白板/暗场校正 + 光谱响应校准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8FD39C6F-C6EE-48AF-A1F2-DB636ED9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538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实验控制建议综合：Davidson 2002；Olson 2015；Zamora-Perez 2018</a:t>
            </a:r>
          </a:p>
        </p:txBody>
      </p:sp>
    </p:spTree>
    <p:extLst>
      <p:ext uri="{BB962C8B-B14F-4D97-AF65-F5344CB8AC3E}">
        <p14:creationId xmlns:p14="http://schemas.microsoft.com/office/powerpoint/2010/main" val="3768722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2759202E-9528-417F-9A8D-F156A638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2561E68-B348-4541-B32B-46CE3659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05 展望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6B4813-9921-4686-90B7-8BC9F595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有效的展望：每条路线都对应一个瓶颈和指标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D7042B3E-B3C1-4217-A159-BFE6ED64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133BFC4-62FA-4CF3-AB54-50CFDBEB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828" lnSpcReduction="1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7365CD6D-B316-45CA-994B-E57190DF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95A5A"/>
          </a:solidFill>
          <a:ln xmlns:a="http://schemas.openxmlformats.org/drawingml/2006/main" w="0">
            <a:noFill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9D43486-0C9A-4AA4-9589-E09B0132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28775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背景仍高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AA7205A-72F0-40AB-985B-5D9A64CE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5240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更窄的照明体积：TIR、光片、偏振抑制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51EEB30-1EAB-43C7-99AF-07E549DD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621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评价指标：SBR / 检出限</a:t>
            </a:r>
          </a:p>
        </p:txBody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84294255-7696-4DFE-B786-E4DCD9ED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52650"/>
            <a:ext cx="9391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CE5"/>
            </a:solidFill>
            <a:prstDash val="solid"/>
          </a:ln>
        </p:spPr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5025463A-3E3B-4946-AC09-8DF6E8D5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2A541"/>
          </a:solidFill>
          <a:ln xmlns:a="http://schemas.openxmlformats.org/drawingml/2006/main" w="0">
            <a:noFill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BF57532-55FE-4159-AE12-385F8D2E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76525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缺少身份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1FAC710-8032-4F26-B5EF-6C1252E6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5717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光谱、抗体或多模态联合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73E7CC2-962D-488F-8C0E-DC751D89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098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评价指标：分类准确率 / 特异性</a:t>
            </a:r>
          </a:p>
        </p:txBody>
      </p:sp>
      <p:sp>
        <p:nvSpPr>
          <p:cNvPr id="15" name="直接连接符 14">
            <a:extLst xmlns:a="http://schemas.openxmlformats.org/drawingml/2006/main">
              <a:ext uri="{FF2B5EF4-FFF2-40B4-BE49-F238E27FC236}">
                <a16:creationId xmlns:a16="http://schemas.microsoft.com/office/drawing/2014/main" id="{D346106D-83B8-4D43-BA05-4B2A904A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00400"/>
            <a:ext cx="9391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CE5"/>
            </a:solidFill>
            <a:prstDash val="solid"/>
          </a:ln>
        </p:spPr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AB0CD170-69F5-4A4D-8A22-230FEEA4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C73A8"/>
          </a:solidFill>
          <a:ln xmlns:a="http://schemas.openxmlformats.org/drawingml/2006/main" w="0">
            <a:noFill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3FBF0C8-2BBA-4AEA-9317-7CA655D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24275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速度不足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7451409-6C6B-45AC-9224-17B0E955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195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高亮度光源 + 高速相机 + 在线算法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554DBF7-0CA1-479E-AE24-BEEF5049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576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评价指标：帧率 / 通量</a:t>
            </a:r>
          </a:p>
        </p:txBody>
      </p:sp>
      <p:sp>
        <p:nvSpPr>
          <p:cNvPr id="20" name="直接连接符 19">
            <a:extLst xmlns:a="http://schemas.openxmlformats.org/drawingml/2006/main">
              <a:ext uri="{FF2B5EF4-FFF2-40B4-BE49-F238E27FC236}">
                <a16:creationId xmlns:a16="http://schemas.microsoft.com/office/drawing/2014/main" id="{0DF8C6D0-7A15-49C6-BE1E-9B2C294B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48150"/>
            <a:ext cx="9391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CE5"/>
            </a:solidFill>
            <a:prstDash val="solid"/>
          </a:ln>
        </p:spPr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781FAF83-5D1C-4E13-BD0D-73277A84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64B6CE"/>
          </a:solidFill>
          <a:ln xmlns:a="http://schemas.openxmlformats.org/drawingml/2006/main" w="0">
            <a:noFill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58D7154-B73A-4E37-8A81-58CB1576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72025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定量不稳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FCF81B0C-A3B6-4746-B5A4-C4D5CB5C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6725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标准样品、物理模型与不确定度报告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E9364AE2-E6A9-411A-BAEB-D88668B7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053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1200" b="1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评价指标：重复性 / 误差</a:t>
            </a:r>
          </a:p>
        </p:txBody>
      </p:sp>
      <p:sp>
        <p:nvSpPr>
          <p:cNvPr id="25" name="直接连接符 24">
            <a:extLst xmlns:a="http://schemas.openxmlformats.org/drawingml/2006/main">
              <a:ext uri="{FF2B5EF4-FFF2-40B4-BE49-F238E27FC236}">
                <a16:creationId xmlns:a16="http://schemas.microsoft.com/office/drawing/2014/main" id="{D1327FB8-D17A-4A25-BB2A-1AF514D2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95900"/>
            <a:ext cx="9391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CE5"/>
            </a:solidFill>
            <a:prstDash val="solid"/>
          </a:ln>
        </p:spPr>
      </p:sp>
      <p:sp>
        <p:nvSpPr>
          <p:cNvPr id="26" name="矩形: 圆角 25">
            <a:extLst xmlns:a="http://schemas.openxmlformats.org/drawingml/2006/main">
              <a:ext uri="{FF2B5EF4-FFF2-40B4-BE49-F238E27FC236}">
                <a16:creationId xmlns:a16="http://schemas.microsoft.com/office/drawing/2014/main" id="{4A63CF91-17EC-414D-B041-E958CC74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72150"/>
            <a:ext cx="10782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A0FCD92-0D77-42F5-82AF-F0709DCD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9775"/>
            <a:ext cx="10401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判断“前沿”是否有效：能否把瓶颈转化为可验证的指标，而不是只增加系统复杂度。</a:t>
            </a:r>
          </a:p>
        </p:txBody>
      </p:sp>
    </p:spTree>
    <p:extLst>
      <p:ext uri="{BB962C8B-B14F-4D97-AF65-F5344CB8AC3E}">
        <p14:creationId xmlns:p14="http://schemas.microsoft.com/office/powerpoint/2010/main" val="70309117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372C7D0-5279-4027-8824-D894075E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F4C64F1-FE7C-4A4A-BF22-DEB167F7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06 总结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534F304-A132-4B9E-9DCA-E1623609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带走三句话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09C3407C-6655-4EB5-BD16-47141409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DFB3DB6-74D6-4648-9828-14F373E4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828" lnSpcReduction="1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椭圆 5">
            <a:extLst xmlns:a="http://schemas.openxmlformats.org/drawingml/2006/main">
              <a:ext uri="{FF2B5EF4-FFF2-40B4-BE49-F238E27FC236}">
                <a16:creationId xmlns:a16="http://schemas.microsoft.com/office/drawing/2014/main" id="{45E10988-A53F-462D-AF5E-6AA5A8A1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35DC407-407D-4219-B558-FCC82787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38325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FEFEC40-BED8-4023-BC8A-B8D2437A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5430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暗场的本质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FA1D9FC-725F-4E6A-93C4-798F747B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28825"/>
            <a:ext cx="901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不是把灯调暗，而是让直射光绕开物镜。</a:t>
            </a: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7098E258-BC1A-4FA0-95E2-CC5E30A7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718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73A8"/>
          </a:solidFill>
          <a:ln xmlns:a="http://schemas.openxmlformats.org/drawingml/2006/main" w="0">
            <a:noFill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18B37ABB-31E2-4315-B5E3-86D3A0A7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133725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5798EEE-1B36-41A5-9BD4-18A63137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384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暗场的价值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8D25DAE-5CF9-4208-9A1C-700C63A9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24225"/>
            <a:ext cx="901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提升弱散射目标的对比度、检出与追踪能力。</a:t>
            </a:r>
          </a:p>
        </p:txBody>
      </p:sp>
      <p:sp>
        <p:nvSpPr>
          <p:cNvPr id="14" name="椭圆 13">
            <a:extLst xmlns:a="http://schemas.openxmlformats.org/drawingml/2006/main">
              <a:ext uri="{FF2B5EF4-FFF2-40B4-BE49-F238E27FC236}">
                <a16:creationId xmlns:a16="http://schemas.microsoft.com/office/drawing/2014/main" id="{E8318536-B371-4029-8367-857E2A66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672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541"/>
          </a:solidFill>
          <a:ln xmlns:a="http://schemas.openxmlformats.org/drawingml/2006/main" w="0">
            <a:noFill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EB56BA2-1DFA-4C55-AF9D-67B5E824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29125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69FA7BB-8DB1-45B9-B177-D6597F06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338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暗场的边界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27AD4A3D-C04A-4239-8D59-CAA82452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19625"/>
            <a:ext cx="901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看见不等于分辨；定量必须依赖校正、标定和对照。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436A70E8-4861-402E-BF9F-E585672B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53075"/>
            <a:ext cx="107823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0B844B8-A596-4F7A-9E4B-75BC6B64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29275"/>
            <a:ext cx="1040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从星空到显微镜：真正重要的不是让目标更亮，而是让背景更安静。</a:t>
            </a:r>
          </a:p>
        </p:txBody>
      </p:sp>
    </p:spTree>
    <p:extLst>
      <p:ext uri="{BB962C8B-B14F-4D97-AF65-F5344CB8AC3E}">
        <p14:creationId xmlns:p14="http://schemas.microsoft.com/office/powerpoint/2010/main" val="788108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A0DF026-2177-4FE9-8DAA-373A51E6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63"/>
          </a:solidFill>
          <a:ln xmlns:a="http://schemas.openxmlformats.org/drawingml/2006/main" w="0">
            <a:noFill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9349A89-FB0F-4D42-AA1F-5876E226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>
                <a:solidFill>
                  <a:srgbClr val="2C73A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73A8"/>
                </a:solidFill>
                <a:latin typeface="Arial"/>
                <a:ea typeface="Arial"/>
                <a:cs typeface="Arial"/>
              </a:rPr>
              <a:t>参考文献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D52141F-6229-4C2B-AB9B-E60DBFEB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核心文献与素材出处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924CFEB3-8F43-44F0-B1F6-CEB92F77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CE5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E0482E6-CF2C-4231-AEBE-7D739A68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828" lnSpcReduction="1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0">
                <a:solidFill>
                  <a:srgbClr val="64748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5B693D4-C783-4341-A313-2D8A2D8B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3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rPr>
              <a:t>基础与综述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A7313E2-6589-4D78-8120-5690D1CB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1  Davidson &amp; Abramowitz. Optical Microscopy (2002).</a:t>
            </a:r>
          </a:p>
          <a:p xmlns:a="http://schemas.openxmlformats.org/drawingml/2006/main">
            <a:endParaRPr sz="1200" b="0">
              <a:solidFill>
                <a:srgbClr val="172536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2  Siedentopf &amp; Zsigmondy. Ann. Phys. 315, 1–39 (1902).</a:t>
            </a:r>
          </a:p>
          <a:p xmlns:a="http://schemas.openxmlformats.org/drawingml/2006/main">
            <a:endParaRPr sz="1200" b="0">
              <a:solidFill>
                <a:srgbClr val="172536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3  Zsigmondy. Properties of Colloids, Nobel Lecture (1926).</a:t>
            </a:r>
          </a:p>
          <a:p xmlns:a="http://schemas.openxmlformats.org/drawingml/2006/main">
            <a:endParaRPr sz="1200" b="0">
              <a:solidFill>
                <a:srgbClr val="172536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4  Olson et al. Chem. Soc. Rev. 44, 40–57 (2015).</a:t>
            </a:r>
          </a:p>
          <a:p xmlns:a="http://schemas.openxmlformats.org/drawingml/2006/main">
            <a:endParaRPr sz="1200" b="0">
              <a:solidFill>
                <a:srgbClr val="172536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5  Priest et al. Chem. Rev. 121, 11937–11970 (2021).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59D9180-9B69-4E3A-A563-9F8DF3AA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049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3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C73A8"/>
                </a:solidFill>
                <a:latin typeface="Microsoft YaHei"/>
                <a:ea typeface="Microsoft YaHei"/>
                <a:cs typeface="Microsoft YaHei"/>
              </a:rPr>
              <a:t>应用与前沿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77A3CB0-4261-4FC3-B992-9FCC8ABE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43100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6  Enoki et al. PLOS ONE 7, e49208 (2012).</a:t>
            </a:r>
          </a:p>
          <a:p xmlns:a="http://schemas.openxmlformats.org/drawingml/2006/main">
            <a:endParaRPr sz="1200" b="0">
              <a:solidFill>
                <a:srgbClr val="172536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7  Meng et al. ACS Photonics 8, 3111–3118 (2021).</a:t>
            </a:r>
          </a:p>
          <a:p xmlns:a="http://schemas.openxmlformats.org/drawingml/2006/main">
            <a:endParaRPr sz="1200" b="0">
              <a:solidFill>
                <a:srgbClr val="172536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8  Zamora-Perez et al. Materials 11, 243 (2018).</a:t>
            </a:r>
          </a:p>
          <a:p xmlns:a="http://schemas.openxmlformats.org/drawingml/2006/main">
            <a:endParaRPr sz="1200" b="0">
              <a:solidFill>
                <a:srgbClr val="172536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9  Li et al. Chinese Optics Letters 15, 081202 (2017).</a:t>
            </a:r>
          </a:p>
          <a:p xmlns:a="http://schemas.openxmlformats.org/drawingml/2006/main">
            <a:endParaRPr sz="1200" b="0">
              <a:solidFill>
                <a:srgbClr val="172536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536"/>
                </a:solidFill>
                <a:latin typeface="Microsoft YaHei"/>
                <a:ea typeface="Microsoft YaHei"/>
                <a:cs typeface="Microsoft YaHei"/>
              </a:rPr>
              <a:t>10 Li et al. ACS Appl. Mater. Interfaces 17, 64027–64047 (2025).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4547EA87-6F7D-4C95-8F54-813E7E43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10782300" cy="8572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4F8"/>
          </a:solidFill>
          <a:ln xmlns:a="http://schemas.openxmlformats.org/drawingml/2006/main" w="0">
            <a:noFill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3ADABFE-A48A-461F-826C-07FC2493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4013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文件夹与PPT原件已完整传入Github仓库：https</a:t>
            </a:r>
            <a:r>
              <a: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://github.com/</a:t>
            </a:r>
            <a:r>
              <a: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Shjdness?tab</a:t>
            </a:r>
            <a:r>
              <a: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=repositories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完整</a:t>
            </a:r>
            <a:r>
              <a: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DOI、PDF、本地图片授权说明与论文原文均已整理在</a:t>
            </a:r>
            <a:r>
              <a: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A资料区；模板来源见</a:t>
            </a:r>
            <a:r>
              <a: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B工作区</a:t>
            </a:r>
            <a:r>
              <a: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模板</a:t>
            </a:r>
            <a:r>
              <a:rPr sz="1350" b="1">
                <a:solidFill>
                  <a:srgbClr val="173B63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92FEBA2-D6CE-4968-8945-62A3991E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28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538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47486"/>
                </a:solidFill>
                <a:latin typeface="Microsoft YaHei"/>
                <a:ea typeface="Microsoft YaHei"/>
                <a:cs typeface="Microsoft YaHei"/>
              </a:rPr>
              <a:t>课堂展示请保留图下注明；公开发布前再次核对非开放获取图片许可</a:t>
            </a:r>
          </a:p>
        </p:txBody>
      </p:sp>
    </p:spTree>
    <p:extLst>
      <p:ext uri="{BB962C8B-B14F-4D97-AF65-F5344CB8AC3E}">
        <p14:creationId xmlns:p14="http://schemas.microsoft.com/office/powerpoint/2010/main" val="6377293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2026-10-07T06:46:00.2020000Z</dcterms:created>
  <dcterms:modified xsi:type="dcterms:W3CDTF">2026-10-07T06:46:00.2020000Z</dcterms:modified>
</coreProperties>
</file>