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3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开场不要先下定义。先说：这不是一台“把灯调暗”的显微镜，而是一种重新安排照明和收集方向的方法。随后用第2页观星类比建立直觉。</a:t>
            </a:r>
          </a:p>
          <a:p>
            <a:endParaRPr/>
          </a:p>
          <a:p>
            <a:r>
              <a:t>来源与图片：</a:t>
            </a:r>
          </a:p>
          <a:p>
            <a:r>
              <a:t>- 视觉风格参考：SciFig Conference Presentation Template — Minimal Navy, https://github.com/scifig-ai/scientific-poster-and-presentation-templates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问式开场：‘星星真的在城市里变少了吗？’答案是否定的，变亮的是背景。暗场的共同思想正是背景抑制。但要立刻说明：天文学中的星体是自发光对象，显微样品多是把照明光散射进物镜。更严格的天文类比其实是日冕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这一页先不讲结构，只把问题说透：亮场并非‘看不见’，而是强背景占用了动态范围。暗场优先解决的是可见度和信噪比，而不是突破衍射极限。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暗场图像最吸引人的地方是‘亮点很多’，但课堂上要把视觉冲击和科学含义分开：亮点代表有光被散射进物镜，不自动等于粒子真实尺寸或化学身份。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讲述节奏：造光锥—绕开物镜—样品改向。只要观众记住‘没有样品时光进不了物镜，有样品时散射光才能进来’，后续所有结构变化都能理解。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这是全场最重要的干货页。注意表述为照明环的最小数值孔径大于物镜NA。若只说‘聚光镜NA更大’并不充分，因为关键是内侧边缘也要在物镜接受角之外。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  <a:p>
            <a:r>
              <a:t>- Nikon MicroscopyU, Darkfield Illumination, https://www.microscopyu.com/techniques/stereomicroscopy/darkfield-illumination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这一页解决‘它长什么样’。普通透射显微镜加中央遮光片可以做低NA暗场；高NA成像需要专用暗场聚光镜及更严格的对中。升级模块不是暗场成立的必要条件。</a:t>
            </a:r>
          </a:p>
          <a:p>
            <a:endParaRPr/>
          </a:p>
          <a:p>
            <a:r>
              <a:t>来源与图片：</a:t>
            </a:r>
          </a:p>
          <a:p>
            <a:r>
              <a:t>- Nikon MicroscopyU, Darkfield Illumination, https://www.microscopyu.com/techniques/stereomicroscopy/darkfield-illumination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不要把三种结构讲成三台互不相关的仪器。它们共享同一原则：尽量把照明光和收集光在角度或空间上分开。透射适合透明样品，反射适合不透明表面，TIR把背景压缩到界面附近。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  <a:p>
            <a:r>
              <a:t>- Li et al. (2017), doi:10.3788/COL201715.081202</a:t>
            </a:r>
          </a:p>
          <a:p>
            <a:r>
              <a:t>- Enoki et al. (2012), doi:10.1371/journal.pone.0049208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这一页解释为什么暗场既灵敏又困难：抑制背景后可以看见弱散射，但粒子变小时信号下降非常快。d^6只用于Rayleigh小颗粒近似，不能当普适定律。</a:t>
            </a:r>
          </a:p>
          <a:p>
            <a:endParaRPr/>
          </a:p>
          <a:p>
            <a:r>
              <a:t>来源与图片：</a:t>
            </a:r>
          </a:p>
          <a:p>
            <a:r>
              <a:t>- Olson et al. (2015), doi:10.1039/C4CS00131A</a:t>
            </a:r>
          </a:p>
          <a:p>
            <a:r>
              <a:t>- Meng et al. (2021), doi:10.1021/acsphotonics.1c01268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这是纠正常见误解的关键页。可以用一句话收束：看见一个4 nm颗粒的散射点，不等于用4 nm空间分辨率看见了颗粒形状。暗场提升检测对比度，定位还依赖光子数和拟合，分辨率仍受成像系统限制。</a:t>
            </a:r>
          </a:p>
          <a:p>
            <a:endParaRPr/>
          </a:p>
          <a:p>
            <a:r>
              <a:t>来源与图片：</a:t>
            </a:r>
          </a:p>
          <a:p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把发展史放在基本原理之后是更适合课堂的顺序。观众先理解‘为什么要隔离照明’，才看得懂每一代技术在解决哪一种背景。不要只按年份罗列仪器名称。</a:t>
            </a:r>
          </a:p>
          <a:p>
            <a:endParaRPr/>
          </a:p>
          <a:p>
            <a:r>
              <a:t>来源与图片：</a:t>
            </a:r>
          </a:p>
          <a:p>
            <a:r>
              <a:t>- Siedentopf &amp; Zsigmondy (1902), doi:10.1002/andp.19023150102</a:t>
            </a:r>
          </a:p>
          <a:p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讲这张数据图时强调‘可定量’来自标定曲线，而不是仅凭亮点漂亮。论文的1.2×10^4 PFU/mL是按背景加3倍标准差外推的检出限；PFU是感染性单位，不等于颗粒总数。</a:t>
            </a:r>
          </a:p>
          <a:p>
            <a:endParaRPr/>
          </a:p>
          <a:p>
            <a:r>
              <a:t>来源与图片：</a:t>
            </a:r>
          </a:p>
          <a:p>
            <a:r>
              <a:t>- Enoki et al. (2012), doi:10.1371/journal.pone.0049208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先指出传统TIR要把照明耦合进高NA物镜，背景和视场受限。作者用两块微镜把入射和收集分开。20 nm金颗粒可在6微秒曝光下追踪；4 nm指位置波动形成的定位分布直径，不等于物镜的4 nm分辨率。</a:t>
            </a:r>
          </a:p>
          <a:p>
            <a:endParaRPr/>
          </a:p>
          <a:p>
            <a:r>
              <a:t>来源与图片：</a:t>
            </a:r>
          </a:p>
          <a:p>
            <a:r>
              <a:t>- Meng et al. (2021), doi:10.1021/acsphotonics.1c01268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高光谱暗场的价值是把二维图片扩展成x-y-λ数据立方体。颜色可与等离激元共振、聚集或局部折射率相关，但不是物体的‘真实颜色’，且必须做系统响应校正。</a:t>
            </a:r>
          </a:p>
          <a:p>
            <a:endParaRPr/>
          </a:p>
          <a:p>
            <a:r>
              <a:t>来源与图片：</a:t>
            </a:r>
          </a:p>
          <a:p>
            <a:r>
              <a:t>- Zamora-Perez et al. (2018), doi:10.3390/ma11020243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这张图能把反射暗场讲得非常具体：环形斜照明照向超光滑表面，完好区镜面反射不进物镜，浅划痕把光散射回来。论文针对深度低于50 nm的浅划痕，报告约82%检出率；这是特定样本和算法条件下的结果。</a:t>
            </a:r>
          </a:p>
          <a:p>
            <a:endParaRPr/>
          </a:p>
          <a:p>
            <a:r>
              <a:t>来源与图片：</a:t>
            </a:r>
          </a:p>
          <a:p>
            <a:r>
              <a:t>- Li et al. (2017), doi:10.3788/COL201715.081202</a:t>
            </a:r>
          </a:p>
          <a:p>
            <a:r>
              <a:t>- Open PDF: https://researching.cn/ArticlePdf/m00005/2017/15/8/COL201715081202.pdf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这页用于回答‘为什么不用别的方法’。暗场最适合无标记、弱散射、快速筛查；需要分子身份时通常结合荧光，需要极弱信号时可用干涉散射，但系统与背景模型更复杂。</a:t>
            </a:r>
          </a:p>
          <a:p>
            <a:endParaRPr/>
          </a:p>
          <a:p>
            <a:r>
              <a:t>来源与图片：</a:t>
            </a:r>
          </a:p>
          <a:p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如果汇报时间紧，这页至少讲前两项。暗场把所有散射体都变亮，因此清洁和对照不是附属操作，而是暗场成像质量的一部分。定量强度或颜色时还要固定照明、焦面、曝光并做校正。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  <a:p>
            <a:r>
              <a:t>- Olson et al. (2015), doi:10.1039/C4CS00131A</a:t>
            </a:r>
          </a:p>
          <a:p>
            <a:r>
              <a:t>- Zamora-Perez et al. (2018), doi:10.3390/ma11020243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避免空泛地说‘智能化、集成化、产业化’。每条展望都必须回答：现有瓶颈是什么、技术路线是什么、用什么指标验证进步。课堂上可重点讲‘从可见到可定量’。</a:t>
            </a:r>
          </a:p>
          <a:p>
            <a:endParaRPr/>
          </a:p>
          <a:p>
            <a:r>
              <a:t>来源与图片：</a:t>
            </a:r>
          </a:p>
          <a:p>
            <a:r>
              <a:t>- Priest et al. (2021), doi:10.1021/acs.chemrev.1c00271</a:t>
            </a:r>
          </a:p>
          <a:p>
            <a:r>
              <a:t>- Li et al. (2025), doi:10.1021/acsami.5c17222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结尾回扣第2页。可以停顿后说：暗场最值得记住的设计思想，是先控制背景，再谈信号。随后感谢听众，并把第20页留作答疑时的文献入口。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参考文献页不必逐条念。答疑时可根据问题跳回对应案例。PLOS ONE与Materials为开放获取来源；其他图用于课堂演示时仍保留完整出处，若公开上传需再次核对许可。</a:t>
            </a:r>
          </a:p>
          <a:p>
            <a:endParaRPr/>
          </a:p>
          <a:p>
            <a:r>
              <a:t>来源与图片：</a:t>
            </a:r>
          </a:p>
          <a:p>
            <a:r>
              <a:t>- Local bibliography: A资料区/00_导读与索引/references.bib</a:t>
            </a:r>
          </a:p>
          <a:p>
            <a:r>
              <a:t>- Template: https://github.com/scifig-ai/scientific-poster-and-presentation-templates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F2FE5B1B-DF2D-4343-80B7-ED3A76762C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A9B2FB-F9D7-4C0B-B305-E97F735D5DF8}"/>
              </a:ext>
            </a:extLst>
          </p:cNvPr>
          <p:cNvSpPr>
            <a:spLocks noGrp="1"/>
          </p:cNvSpPr>
          <p:nvPr/>
        </p:nvSpPr>
        <p:spPr>
          <a:xfrm>
            <a:off x="247650" y="0"/>
            <a:ext cx="95250" cy="6858000"/>
          </a:xfrm>
          <a:prstGeom prst="rect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F922F-CEC7-41BC-83B5-079D986AF77A}"/>
              </a:ext>
            </a:extLst>
          </p:cNvPr>
          <p:cNvSpPr>
            <a:spLocks noGrp="1"/>
          </p:cNvSpPr>
          <p:nvPr/>
        </p:nvSpPr>
        <p:spPr>
          <a:xfrm>
            <a:off x="762000" y="781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DARK-FIELD MICROSCOPY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6A223-7EB0-4853-A16D-B7B3156273FD}"/>
              </a:ext>
            </a:extLst>
          </p:cNvPr>
          <p:cNvSpPr>
            <a:spLocks noGrp="1"/>
          </p:cNvSpPr>
          <p:nvPr/>
        </p:nvSpPr>
        <p:spPr>
          <a:xfrm>
            <a:off x="762000" y="1266825"/>
            <a:ext cx="78105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4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暗场显微镜</a:t>
            </a:r>
            <a:endParaRPr sz="4050" b="1" dirty="0">
              <a:solidFill>
                <a:srgbClr val="17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F07DD4-DE2B-4D69-B5BD-6BE5F1EA8966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7810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8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把最亮的背景拿掉，让微弱散射成为主角</a:t>
            </a:r>
            <a:endParaRPr sz="1800" b="0" dirty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F728DF5E-CC45-4459-9F32-DDA2C8E0AB02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4762500" cy="0"/>
          </a:xfrm>
          <a:prstGeom prst="line">
            <a:avLst/>
          </a:prstGeom>
          <a:noFill/>
          <a:ln w="47625">
            <a:solidFill>
              <a:srgbClr val="F2A541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C6833A4-96F9-44DC-9C18-460D68FEFCDB}"/>
              </a:ext>
            </a:extLst>
          </p:cNvPr>
          <p:cNvSpPr>
            <a:spLocks noGrp="1"/>
          </p:cNvSpPr>
          <p:nvPr/>
        </p:nvSpPr>
        <p:spPr>
          <a:xfrm>
            <a:off x="800100" y="3495675"/>
            <a:ext cx="321945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E669AB5-4053-44DA-8D2D-D21A42E17E27}"/>
              </a:ext>
            </a:extLst>
          </p:cNvPr>
          <p:cNvSpPr>
            <a:spLocks noGrp="1"/>
          </p:cNvSpPr>
          <p:nvPr/>
        </p:nvSpPr>
        <p:spPr>
          <a:xfrm>
            <a:off x="800100" y="3495675"/>
            <a:ext cx="66675" cy="120015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B49174-4519-4016-A729-78FA45B6FD44}"/>
              </a:ext>
            </a:extLst>
          </p:cNvPr>
          <p:cNvSpPr>
            <a:spLocks noGrp="1"/>
          </p:cNvSpPr>
          <p:nvPr/>
        </p:nvSpPr>
        <p:spPr>
          <a:xfrm>
            <a:off x="1028700" y="3590925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94CD94-DDB6-48E7-9F4E-5F5641C67C14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28194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光路、NA 条件与成像边界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4E5491E-A307-4489-A67D-F0E01442895B}"/>
              </a:ext>
            </a:extLst>
          </p:cNvPr>
          <p:cNvSpPr>
            <a:spLocks noGrp="1"/>
          </p:cNvSpPr>
          <p:nvPr/>
        </p:nvSpPr>
        <p:spPr>
          <a:xfrm>
            <a:off x="4248150" y="3495675"/>
            <a:ext cx="321945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CE8D5D5-DD73-4BB1-8354-9718BD6E4873}"/>
              </a:ext>
            </a:extLst>
          </p:cNvPr>
          <p:cNvSpPr>
            <a:spLocks noGrp="1"/>
          </p:cNvSpPr>
          <p:nvPr/>
        </p:nvSpPr>
        <p:spPr>
          <a:xfrm>
            <a:off x="4248150" y="3495675"/>
            <a:ext cx="66675" cy="120015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7CE9AA-9D79-4FDB-87E7-161A9E0A5C71}"/>
              </a:ext>
            </a:extLst>
          </p:cNvPr>
          <p:cNvSpPr>
            <a:spLocks noGrp="1"/>
          </p:cNvSpPr>
          <p:nvPr/>
        </p:nvSpPr>
        <p:spPr>
          <a:xfrm>
            <a:off x="4476750" y="3590925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演化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3F5C3F-769F-430A-9E8D-07E6B61295A9}"/>
              </a:ext>
            </a:extLst>
          </p:cNvPr>
          <p:cNvSpPr>
            <a:spLocks noGrp="1"/>
          </p:cNvSpPr>
          <p:nvPr/>
        </p:nvSpPr>
        <p:spPr>
          <a:xfrm>
            <a:off x="4476750" y="3914775"/>
            <a:ext cx="28194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从超显微镜到 TIR 与高光谱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1C13A5C-55FA-419B-A4EB-3F1A3CED8541}"/>
              </a:ext>
            </a:extLst>
          </p:cNvPr>
          <p:cNvSpPr>
            <a:spLocks noGrp="1"/>
          </p:cNvSpPr>
          <p:nvPr/>
        </p:nvSpPr>
        <p:spPr>
          <a:xfrm>
            <a:off x="7696200" y="3495675"/>
            <a:ext cx="321945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03180C6-DABA-45D5-B995-06E9A2FE8898}"/>
              </a:ext>
            </a:extLst>
          </p:cNvPr>
          <p:cNvSpPr>
            <a:spLocks noGrp="1"/>
          </p:cNvSpPr>
          <p:nvPr/>
        </p:nvSpPr>
        <p:spPr>
          <a:xfrm>
            <a:off x="7696200" y="3495675"/>
            <a:ext cx="66675" cy="120015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DD831C-974B-473D-B30D-02567D2A685D}"/>
              </a:ext>
            </a:extLst>
          </p:cNvPr>
          <p:cNvSpPr>
            <a:spLocks noGrp="1"/>
          </p:cNvSpPr>
          <p:nvPr/>
        </p:nvSpPr>
        <p:spPr>
          <a:xfrm>
            <a:off x="7924800" y="3590925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94C91E-7743-45E6-8D78-0FFB488BB131}"/>
              </a:ext>
            </a:extLst>
          </p:cNvPr>
          <p:cNvSpPr>
            <a:spLocks noGrp="1"/>
          </p:cNvSpPr>
          <p:nvPr/>
        </p:nvSpPr>
        <p:spPr>
          <a:xfrm>
            <a:off x="7924800" y="3914775"/>
            <a:ext cx="28194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病毒、纳米颗粒与表面缺陷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7F9EB5-849C-4C70-9EC4-EEF949D43468}"/>
              </a:ext>
            </a:extLst>
          </p:cNvPr>
          <p:cNvSpPr>
            <a:spLocks noGrp="1"/>
          </p:cNvSpPr>
          <p:nvPr/>
        </p:nvSpPr>
        <p:spPr>
          <a:xfrm>
            <a:off x="800100" y="5772150"/>
            <a:ext cx="7810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汇报人</a:t>
            </a:r>
            <a:r>
              <a:rPr sz="1275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275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曹寿伟</a:t>
            </a:r>
            <a:r>
              <a:rPr sz="1275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275" b="0" dirty="0" err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课程</a:t>
            </a:r>
            <a:r>
              <a:rPr sz="1275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275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现代仪器分析基础</a:t>
            </a:r>
            <a:r>
              <a:rPr sz="1275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   日期：2026.10</a:t>
            </a:r>
            <a:r>
              <a:rPr lang="en-US" sz="1275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.06</a:t>
            </a:r>
            <a:endParaRPr sz="1275" b="0" dirty="0">
              <a:solidFill>
                <a:srgbClr val="6474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9BAA6B0-2ABF-43E4-8A79-CBB348E2BD7B}"/>
              </a:ext>
            </a:extLst>
          </p:cNvPr>
          <p:cNvSpPr>
            <a:spLocks noGrp="1"/>
          </p:cNvSpPr>
          <p:nvPr/>
        </p:nvSpPr>
        <p:spPr>
          <a:xfrm>
            <a:off x="9620250" y="60769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样品版 · 12–15 min</a:t>
            </a:r>
          </a:p>
        </p:txBody>
      </p:sp>
    </p:spTree>
    <p:extLst>
      <p:ext uri="{BB962C8B-B14F-4D97-AF65-F5344CB8AC3E}">
        <p14:creationId xmlns:p14="http://schemas.microsoft.com/office/powerpoint/2010/main" val="846200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5852425-1FA0-46AC-838E-D1883D0E52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3D898A-FBD8-4122-B4B6-34F34A94DF69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直觉引入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B3664B-1F15-46E8-9C1B-400B5CE8BBD9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</a:t>
            </a:r>
            <a:r>
              <a:rPr lang="zh-CN" altLang="en-US" sz="25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远近光污染对观星影响很大</a:t>
            </a:r>
            <a:r>
              <a:rPr sz="25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9268403-6CF1-4856-8F8D-46B22410F0F9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793EB7-E8C2-4162-BFE8-B57B3EB6D3C7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32" r="32"/>
          <a:stretch>
            <a:fillRect/>
          </a:stretch>
        </p:blipFill>
        <p:spPr>
          <a:xfrm>
            <a:off x="514350" y="1504950"/>
            <a:ext cx="7239000" cy="40767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2EA407E-3FA9-4546-B13F-B424D90F6E6D}"/>
              </a:ext>
            </a:extLst>
          </p:cNvPr>
          <p:cNvSpPr>
            <a:spLocks noGrp="1"/>
          </p:cNvSpPr>
          <p:nvPr/>
        </p:nvSpPr>
        <p:spPr>
          <a:xfrm>
            <a:off x="514350" y="5191125"/>
            <a:ext cx="7239000" cy="390525"/>
          </a:xfrm>
          <a:prstGeom prst="rect">
            <a:avLst/>
          </a:prstGeom>
          <a:solidFill>
            <a:srgbClr val="071524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C5B30E-31D6-4A2E-A5A5-D244763C002C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6896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同一片星空：左侧背景更亮，右侧弱星更容易被察觉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1CE848-3412-4B0D-823F-7ECC9ED2751B}"/>
              </a:ext>
            </a:extLst>
          </p:cNvPr>
          <p:cNvSpPr>
            <a:spLocks noGrp="1"/>
          </p:cNvSpPr>
          <p:nvPr/>
        </p:nvSpPr>
        <p:spPr>
          <a:xfrm>
            <a:off x="8210550" y="17145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信号没有突然变强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67FE99-AE67-4B16-B460-CF5FA51D23D2}"/>
              </a:ext>
            </a:extLst>
          </p:cNvPr>
          <p:cNvSpPr>
            <a:spLocks noGrp="1"/>
          </p:cNvSpPr>
          <p:nvPr/>
        </p:nvSpPr>
        <p:spPr>
          <a:xfrm>
            <a:off x="8210550" y="2238375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真正改变的是：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4DC73F-931C-4A97-B9DC-AE59629E438A}"/>
              </a:ext>
            </a:extLst>
          </p:cNvPr>
          <p:cNvSpPr>
            <a:spLocks noGrp="1"/>
          </p:cNvSpPr>
          <p:nvPr/>
        </p:nvSpPr>
        <p:spPr>
          <a:xfrm>
            <a:off x="8096250" y="2705100"/>
            <a:ext cx="31623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62CAB5-2529-472F-BBEE-88796830E852}"/>
              </a:ext>
            </a:extLst>
          </p:cNvPr>
          <p:cNvSpPr>
            <a:spLocks noGrp="1"/>
          </p:cNvSpPr>
          <p:nvPr/>
        </p:nvSpPr>
        <p:spPr>
          <a:xfrm>
            <a:off x="8096250" y="2705100"/>
            <a:ext cx="66675" cy="85725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8AAB2D-3B0B-4F75-B157-0B14BBAFE04B}"/>
              </a:ext>
            </a:extLst>
          </p:cNvPr>
          <p:cNvSpPr>
            <a:spLocks noGrp="1"/>
          </p:cNvSpPr>
          <p:nvPr/>
        </p:nvSpPr>
        <p:spPr>
          <a:xfrm>
            <a:off x="8324850" y="280035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 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C8F67E-18D0-4603-B485-AE6F7E2CEA61}"/>
              </a:ext>
            </a:extLst>
          </p:cNvPr>
          <p:cNvSpPr>
            <a:spLocks noGrp="1"/>
          </p:cNvSpPr>
          <p:nvPr/>
        </p:nvSpPr>
        <p:spPr>
          <a:xfrm>
            <a:off x="8324850" y="312420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弱信号与背景的差距被拉开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767894E-44AC-4AE1-BE6A-A4A29E59F274}"/>
              </a:ext>
            </a:extLst>
          </p:cNvPr>
          <p:cNvSpPr>
            <a:spLocks noGrp="1"/>
          </p:cNvSpPr>
          <p:nvPr/>
        </p:nvSpPr>
        <p:spPr>
          <a:xfrm>
            <a:off x="8096250" y="3724275"/>
            <a:ext cx="31623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341EFDE-96FB-40A5-8A5A-C9B7027EAD2F}"/>
              </a:ext>
            </a:extLst>
          </p:cNvPr>
          <p:cNvSpPr>
            <a:spLocks noGrp="1"/>
          </p:cNvSpPr>
          <p:nvPr/>
        </p:nvSpPr>
        <p:spPr>
          <a:xfrm>
            <a:off x="8096250" y="3724275"/>
            <a:ext cx="66675" cy="85725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8BB84F-441E-4AE7-BADB-A918A86E38D9}"/>
              </a:ext>
            </a:extLst>
          </p:cNvPr>
          <p:cNvSpPr>
            <a:spLocks noGrp="1"/>
          </p:cNvSpPr>
          <p:nvPr/>
        </p:nvSpPr>
        <p:spPr>
          <a:xfrm>
            <a:off x="8324850" y="3819525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对比度 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81F768-48BE-434F-AE29-0431C40CE998}"/>
              </a:ext>
            </a:extLst>
          </p:cNvPr>
          <p:cNvSpPr>
            <a:spLocks noGrp="1"/>
          </p:cNvSpPr>
          <p:nvPr/>
        </p:nvSpPr>
        <p:spPr>
          <a:xfrm>
            <a:off x="8324850" y="414337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原本被淹没的目标显现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A3AAEE-393D-473D-8EEC-C81F18218264}"/>
              </a:ext>
            </a:extLst>
          </p:cNvPr>
          <p:cNvSpPr>
            <a:spLocks noGrp="1"/>
          </p:cNvSpPr>
          <p:nvPr/>
        </p:nvSpPr>
        <p:spPr>
          <a:xfrm>
            <a:off x="8096250" y="4876800"/>
            <a:ext cx="31623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类比边界：星星自己发光；显微样品通常靠散射光被看见。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45F43E-EC5C-401A-82C5-7159AECDC626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图：AI 生成，仅作概念类比，不作为实验数据</a:t>
            </a:r>
          </a:p>
        </p:txBody>
      </p:sp>
    </p:spTree>
    <p:extLst>
      <p:ext uri="{BB962C8B-B14F-4D97-AF65-F5344CB8AC3E}">
        <p14:creationId xmlns:p14="http://schemas.microsoft.com/office/powerpoint/2010/main" val="78706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F3DBD62-5B62-4093-A5AB-577B22F2B3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BA9570-268A-4C92-BC4A-E0C2F927C54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需求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DA82EA-FEA1-485B-829A-D65250D05E0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亮场的困境：目标和背景都很亮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C47DCF0-2019-449B-A119-488462E92E58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14A1D0-F44A-4F5B-B9E0-588EEB34790B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8AFC8C-B3C7-46CE-B5E8-5F3A9F73842B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4095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702" lnSpcReduction="10000"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相机看到的是三部分叠加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5F4AB84-D89A-4076-BC34-8D08B91A475B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466850" cy="146685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8BD317-ACE0-4C7A-9FC2-CB089B3C4ED3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123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直射光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强背景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C70EC3E-EA20-4199-B4F3-C1DB03A79122}"/>
              </a:ext>
            </a:extLst>
          </p:cNvPr>
          <p:cNvSpPr>
            <a:spLocks noGrp="1"/>
          </p:cNvSpPr>
          <p:nvPr/>
        </p:nvSpPr>
        <p:spPr>
          <a:xfrm>
            <a:off x="2895600" y="2114550"/>
            <a:ext cx="1466850" cy="146685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506381-6F50-4076-A4C4-BC64177BF15F}"/>
              </a:ext>
            </a:extLst>
          </p:cNvPr>
          <p:cNvSpPr>
            <a:spLocks noGrp="1"/>
          </p:cNvSpPr>
          <p:nvPr/>
        </p:nvSpPr>
        <p:spPr>
          <a:xfrm>
            <a:off x="3009900" y="2457450"/>
            <a:ext cx="123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样品散射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弱信号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8D7D90B-9708-419B-B6E2-5A22496D6F2D}"/>
              </a:ext>
            </a:extLst>
          </p:cNvPr>
          <p:cNvSpPr>
            <a:spLocks noGrp="1"/>
          </p:cNvSpPr>
          <p:nvPr/>
        </p:nvSpPr>
        <p:spPr>
          <a:xfrm>
            <a:off x="5067300" y="2114550"/>
            <a:ext cx="1466850" cy="1466850"/>
          </a:xfrm>
          <a:prstGeom prst="ellipse">
            <a:avLst/>
          </a:prstGeom>
          <a:solidFill>
            <a:srgbClr val="647486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FA2186-B5F3-4D46-9DD5-C68B2279E272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123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杂散与噪声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伪信号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E455DF-6D39-46B8-86F3-9F4D460525A9}"/>
              </a:ext>
            </a:extLst>
          </p:cNvPr>
          <p:cNvSpPr>
            <a:spLocks noGrp="1"/>
          </p:cNvSpPr>
          <p:nvPr/>
        </p:nvSpPr>
        <p:spPr>
          <a:xfrm>
            <a:off x="2381250" y="257175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816" lnSpcReduction="1000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C92DB0-700B-47B2-9045-D5C75CDE1414}"/>
              </a:ext>
            </a:extLst>
          </p:cNvPr>
          <p:cNvSpPr>
            <a:spLocks noGrp="1"/>
          </p:cNvSpPr>
          <p:nvPr/>
        </p:nvSpPr>
        <p:spPr>
          <a:xfrm>
            <a:off x="4552950" y="257175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816" lnSpcReduction="1000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83CA0E8-E3A5-4E22-ABDD-1A1D81B83AF7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61912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BF5AEB-BB83-4CDB-8F09-5F7FE6B81EA3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56578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当弱散射信号只占总光强的一小部分，细边缘、透明颗粒和浅划痕就会被背景吞没。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A7266EC-0CCB-46DF-8AB0-43CF9D2183C9}"/>
              </a:ext>
            </a:extLst>
          </p:cNvPr>
          <p:cNvSpPr>
            <a:spLocks noGrp="1"/>
          </p:cNvSpPr>
          <p:nvPr/>
        </p:nvSpPr>
        <p:spPr>
          <a:xfrm>
            <a:off x="7286625" y="1600200"/>
            <a:ext cx="4000500" cy="1066800"/>
          </a:xfrm>
          <a:prstGeom prst="roundRect">
            <a:avLst>
              <a:gd name="adj" fmla="val 714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9EAFB0-FC28-4246-882B-505349AAF0A0}"/>
              </a:ext>
            </a:extLst>
          </p:cNvPr>
          <p:cNvSpPr>
            <a:spLocks noGrp="1"/>
          </p:cNvSpPr>
          <p:nvPr/>
        </p:nvSpPr>
        <p:spPr>
          <a:xfrm>
            <a:off x="7286625" y="1600200"/>
            <a:ext cx="66675" cy="106680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29EEBB-1A85-445F-97DA-CB2123FB211A}"/>
              </a:ext>
            </a:extLst>
          </p:cNvPr>
          <p:cNvSpPr>
            <a:spLocks noGrp="1"/>
          </p:cNvSpPr>
          <p:nvPr/>
        </p:nvSpPr>
        <p:spPr>
          <a:xfrm>
            <a:off x="7515225" y="1695450"/>
            <a:ext cx="3600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1｜无染色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1883D8-2630-46CE-BEEF-B842681657B1}"/>
              </a:ext>
            </a:extLst>
          </p:cNvPr>
          <p:cNvSpPr>
            <a:spLocks noGrp="1"/>
          </p:cNvSpPr>
          <p:nvPr/>
        </p:nvSpPr>
        <p:spPr>
          <a:xfrm>
            <a:off x="7515225" y="2019300"/>
            <a:ext cx="3600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不靠吸收差异，也能看到透明或弱吸收对象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88AEC14-5DBF-4219-90EA-349D6D3C3E77}"/>
              </a:ext>
            </a:extLst>
          </p:cNvPr>
          <p:cNvSpPr>
            <a:spLocks noGrp="1"/>
          </p:cNvSpPr>
          <p:nvPr/>
        </p:nvSpPr>
        <p:spPr>
          <a:xfrm>
            <a:off x="7286625" y="2857500"/>
            <a:ext cx="4000500" cy="1066800"/>
          </a:xfrm>
          <a:prstGeom prst="roundRect">
            <a:avLst>
              <a:gd name="adj" fmla="val 714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5FF50F6-E8D4-4B25-BE0A-CED62D1CE5A3}"/>
              </a:ext>
            </a:extLst>
          </p:cNvPr>
          <p:cNvSpPr>
            <a:spLocks noGrp="1"/>
          </p:cNvSpPr>
          <p:nvPr/>
        </p:nvSpPr>
        <p:spPr>
          <a:xfrm>
            <a:off x="7286625" y="2857500"/>
            <a:ext cx="66675" cy="106680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5A25C6-49BC-4311-9534-33C4F55B6DA2}"/>
              </a:ext>
            </a:extLst>
          </p:cNvPr>
          <p:cNvSpPr>
            <a:spLocks noGrp="1"/>
          </p:cNvSpPr>
          <p:nvPr/>
        </p:nvSpPr>
        <p:spPr>
          <a:xfrm>
            <a:off x="7515225" y="2952750"/>
            <a:ext cx="3600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2｜高通量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97EFE-ABCF-4E11-BEB2-AF111537BA62}"/>
              </a:ext>
            </a:extLst>
          </p:cNvPr>
          <p:cNvSpPr>
            <a:spLocks noGrp="1"/>
          </p:cNvSpPr>
          <p:nvPr/>
        </p:nvSpPr>
        <p:spPr>
          <a:xfrm>
            <a:off x="7515225" y="3276600"/>
            <a:ext cx="3600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比逐点扫描更快地发现稀少目标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364D008-74FE-4B7D-A9F7-632C2CE1F9C0}"/>
              </a:ext>
            </a:extLst>
          </p:cNvPr>
          <p:cNvSpPr>
            <a:spLocks noGrp="1"/>
          </p:cNvSpPr>
          <p:nvPr/>
        </p:nvSpPr>
        <p:spPr>
          <a:xfrm>
            <a:off x="7286625" y="4114800"/>
            <a:ext cx="4000500" cy="1066800"/>
          </a:xfrm>
          <a:prstGeom prst="roundRect">
            <a:avLst>
              <a:gd name="adj" fmla="val 714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11EA3E6-C0FD-49E8-9A94-B95E742E55D8}"/>
              </a:ext>
            </a:extLst>
          </p:cNvPr>
          <p:cNvSpPr>
            <a:spLocks noGrp="1"/>
          </p:cNvSpPr>
          <p:nvPr/>
        </p:nvSpPr>
        <p:spPr>
          <a:xfrm>
            <a:off x="7286625" y="4114800"/>
            <a:ext cx="66675" cy="10668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1085D88-E90F-4397-B246-E8EEA7C0950E}"/>
              </a:ext>
            </a:extLst>
          </p:cNvPr>
          <p:cNvSpPr>
            <a:spLocks noGrp="1"/>
          </p:cNvSpPr>
          <p:nvPr/>
        </p:nvSpPr>
        <p:spPr>
          <a:xfrm>
            <a:off x="7515225" y="4210050"/>
            <a:ext cx="3600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3｜可定量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B736789-C885-4BC2-90D0-E013C505C16F}"/>
              </a:ext>
            </a:extLst>
          </p:cNvPr>
          <p:cNvSpPr>
            <a:spLocks noGrp="1"/>
          </p:cNvSpPr>
          <p:nvPr/>
        </p:nvSpPr>
        <p:spPr>
          <a:xfrm>
            <a:off x="7515225" y="4533900"/>
            <a:ext cx="3600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把亮点升级为计数、轨迹或光谱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A211298-CFE7-4AE1-813D-2DFDCD2334D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概念依据：Davidson &amp; Abramowitz, Optical Microscopy (2002)</a:t>
            </a:r>
          </a:p>
        </p:txBody>
      </p:sp>
    </p:spTree>
    <p:extLst>
      <p:ext uri="{BB962C8B-B14F-4D97-AF65-F5344CB8AC3E}">
        <p14:creationId xmlns:p14="http://schemas.microsoft.com/office/powerpoint/2010/main" val="106015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740C7B10-DBEB-40F3-89DE-4BE6A5ABFC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C4A21A-6F40-467A-A4EF-2F18DBE5852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效果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0AD2F5-C98B-464E-B89C-49DCDEA1F6C5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暗场的产品效果：黑背景上的散射轮廓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61429C5-A22D-4B52-89A1-ECA4D6361F13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BFAF14-760E-4FA1-9C3D-FB9855F82B8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7C7F47-5190-4AF4-A6CA-C0AF96B506AE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4953000" cy="4095750"/>
          </a:xfrm>
          <a:prstGeom prst="roundRect">
            <a:avLst>
              <a:gd name="adj" fmla="val 1860"/>
            </a:avLst>
          </a:prstGeom>
          <a:solidFill>
            <a:srgbClr val="071524"/>
          </a:solidFill>
          <a:ln w="0">
            <a:noFill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67518" y="1657350"/>
            <a:ext cx="3265714" cy="3810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3BCDEE-C4D3-4709-B8D2-0A2A661034A6}"/>
              </a:ext>
            </a:extLst>
          </p:cNvPr>
          <p:cNvSpPr>
            <a:spLocks noGrp="1"/>
          </p:cNvSpPr>
          <p:nvPr/>
        </p:nvSpPr>
        <p:spPr>
          <a:xfrm>
            <a:off x="5943600" y="1695450"/>
            <a:ext cx="5048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硅藻壳体的边缘和纹理被散射光勾勒出来</a:t>
            </a:r>
            <a:endParaRPr sz="2100" b="1" dirty="0">
              <a:solidFill>
                <a:srgbClr val="17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EEBAD85-C239-4EF9-920D-231BF0949D0E}"/>
              </a:ext>
            </a:extLst>
          </p:cNvPr>
          <p:cNvSpPr>
            <a:spLocks noGrp="1"/>
          </p:cNvSpPr>
          <p:nvPr/>
        </p:nvSpPr>
        <p:spPr>
          <a:xfrm>
            <a:off x="5943600" y="2571750"/>
            <a:ext cx="5067300" cy="800100"/>
          </a:xfrm>
          <a:prstGeom prst="roundRect">
            <a:avLst>
              <a:gd name="adj" fmla="val 9524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3F65E4-7DE2-4669-B62C-2FD4223B37C2}"/>
              </a:ext>
            </a:extLst>
          </p:cNvPr>
          <p:cNvSpPr>
            <a:spLocks noGrp="1"/>
          </p:cNvSpPr>
          <p:nvPr/>
        </p:nvSpPr>
        <p:spPr>
          <a:xfrm>
            <a:off x="5943600" y="2571750"/>
            <a:ext cx="66675" cy="80010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AEAF47-B4D7-443A-86A5-848AA5C483A6}"/>
              </a:ext>
            </a:extLst>
          </p:cNvPr>
          <p:cNvSpPr>
            <a:spLocks noGrp="1"/>
          </p:cNvSpPr>
          <p:nvPr/>
        </p:nvSpPr>
        <p:spPr>
          <a:xfrm>
            <a:off x="6172200" y="2667000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看见什么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8A4E7C-10D3-45A2-BB20-C1A4879D01D3}"/>
              </a:ext>
            </a:extLst>
          </p:cNvPr>
          <p:cNvSpPr>
            <a:spLocks noGrp="1"/>
          </p:cNvSpPr>
          <p:nvPr/>
        </p:nvSpPr>
        <p:spPr>
          <a:xfrm>
            <a:off x="6172200" y="29908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边缘、颗粒、界面和粗糙处通常更亮</a:t>
            </a:r>
            <a:endParaRPr sz="1200" b="0" dirty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876AE6B-AB9E-487D-98A7-AF3BFB689872}"/>
              </a:ext>
            </a:extLst>
          </p:cNvPr>
          <p:cNvSpPr>
            <a:spLocks noGrp="1"/>
          </p:cNvSpPr>
          <p:nvPr/>
        </p:nvSpPr>
        <p:spPr>
          <a:xfrm>
            <a:off x="5943600" y="3562350"/>
            <a:ext cx="5067300" cy="800100"/>
          </a:xfrm>
          <a:prstGeom prst="roundRect">
            <a:avLst>
              <a:gd name="adj" fmla="val 9524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593775F-F2A5-470A-9580-A072D0DA9666}"/>
              </a:ext>
            </a:extLst>
          </p:cNvPr>
          <p:cNvSpPr>
            <a:spLocks noGrp="1"/>
          </p:cNvSpPr>
          <p:nvPr/>
        </p:nvSpPr>
        <p:spPr>
          <a:xfrm>
            <a:off x="5943600" y="3562350"/>
            <a:ext cx="66675" cy="80010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425C8A-ACAC-4E5C-B1F2-F38962DB0C5A}"/>
              </a:ext>
            </a:extLst>
          </p:cNvPr>
          <p:cNvSpPr>
            <a:spLocks noGrp="1"/>
          </p:cNvSpPr>
          <p:nvPr/>
        </p:nvSpPr>
        <p:spPr>
          <a:xfrm>
            <a:off x="6172200" y="3657600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47C9C0-CC9A-4A06-9624-BA71CFA2A3D5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它们把原本绕开物镜的光重新定向</a:t>
            </a:r>
            <a:endParaRPr sz="1200" b="0" dirty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4B2BA52-1AEA-4FDA-BA1F-445ECD48BD62}"/>
              </a:ext>
            </a:extLst>
          </p:cNvPr>
          <p:cNvSpPr>
            <a:spLocks noGrp="1"/>
          </p:cNvSpPr>
          <p:nvPr/>
        </p:nvSpPr>
        <p:spPr>
          <a:xfrm>
            <a:off x="5943600" y="4552950"/>
            <a:ext cx="5067300" cy="800100"/>
          </a:xfrm>
          <a:prstGeom prst="roundRect">
            <a:avLst>
              <a:gd name="adj" fmla="val 9524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959BB9E-E5D9-4B4A-8B5A-86C142F79282}"/>
              </a:ext>
            </a:extLst>
          </p:cNvPr>
          <p:cNvSpPr>
            <a:spLocks noGrp="1"/>
          </p:cNvSpPr>
          <p:nvPr/>
        </p:nvSpPr>
        <p:spPr>
          <a:xfrm>
            <a:off x="5943600" y="4552950"/>
            <a:ext cx="66675" cy="8001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79BF89-9F60-417A-AEC4-29265B0496C0}"/>
              </a:ext>
            </a:extLst>
          </p:cNvPr>
          <p:cNvSpPr>
            <a:spLocks noGrp="1"/>
          </p:cNvSpPr>
          <p:nvPr/>
        </p:nvSpPr>
        <p:spPr>
          <a:xfrm>
            <a:off x="6172200" y="4648200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代价是什么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E01655-7867-4F4A-80BB-FBC2A48927FE}"/>
              </a:ext>
            </a:extLst>
          </p:cNvPr>
          <p:cNvSpPr>
            <a:spLocks noGrp="1"/>
          </p:cNvSpPr>
          <p:nvPr/>
        </p:nvSpPr>
        <p:spPr>
          <a:xfrm>
            <a:off x="6172200" y="49720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灰尘、划痕、盖玻片也会一起变亮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8BEA3E1-908B-4F9A-8F88-7BB3AA138581}"/>
              </a:ext>
            </a:extLst>
          </p:cNvPr>
          <p:cNvSpPr>
            <a:spLocks noGrp="1"/>
          </p:cNvSpPr>
          <p:nvPr/>
        </p:nvSpPr>
        <p:spPr>
          <a:xfrm>
            <a:off x="7962900" y="5572125"/>
            <a:ext cx="2000250" cy="266700"/>
          </a:xfrm>
          <a:prstGeom prst="roundRect">
            <a:avLst>
              <a:gd name="adj" fmla="val 28571"/>
            </a:avLst>
          </a:prstGeom>
          <a:solidFill>
            <a:srgbClr val="C95A5A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AACFE-4833-4159-89EC-392595494814}"/>
              </a:ext>
            </a:extLst>
          </p:cNvPr>
          <p:cNvSpPr>
            <a:spLocks noGrp="1"/>
          </p:cNvSpPr>
          <p:nvPr/>
        </p:nvSpPr>
        <p:spPr>
          <a:xfrm>
            <a:off x="8039100" y="5581650"/>
            <a:ext cx="18478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不是“更高分辨率”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870A45D-983E-43F9-8614-9AC194FAF621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dirty="0" err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</a:t>
            </a:r>
            <a:r>
              <a:rPr sz="750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&amp; Abramowitz (2002), Fig. 15（本地资料裁图）</a:t>
            </a:r>
          </a:p>
        </p:txBody>
      </p:sp>
    </p:spTree>
    <p:extLst>
      <p:ext uri="{BB962C8B-B14F-4D97-AF65-F5344CB8AC3E}">
        <p14:creationId xmlns:p14="http://schemas.microsoft.com/office/powerpoint/2010/main" val="80925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93333C3-120D-42E5-97F2-8C25D2D4DE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0AEE56-7F80-47DB-ABF3-F54F656D698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FABAE9-D051-4A21-AACD-6B562C0CB7A7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一句话原理：挡住直射光，只收散射光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F3DF62A-9933-4364-8CF2-1B957ED1929F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9B16CC-6EB9-419F-8730-A09275AC9409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1442" y="1504950"/>
            <a:ext cx="3477816" cy="4381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E843B39-C4C3-448D-BDD8-6E621CF1B992}"/>
              </a:ext>
            </a:extLst>
          </p:cNvPr>
          <p:cNvSpPr>
            <a:spLocks noGrp="1"/>
          </p:cNvSpPr>
          <p:nvPr/>
        </p:nvSpPr>
        <p:spPr>
          <a:xfrm>
            <a:off x="5772150" y="164782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① 造一个空心光锥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D11503-382A-45CB-98A4-42DD2F5161DD}"/>
              </a:ext>
            </a:extLst>
          </p:cNvPr>
          <p:cNvSpPr>
            <a:spLocks noGrp="1"/>
          </p:cNvSpPr>
          <p:nvPr/>
        </p:nvSpPr>
        <p:spPr>
          <a:xfrm>
            <a:off x="5772150" y="205740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中央遮光片挡住低角度直射光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029D2DA0-90CD-4C57-9E0E-11618386A48B}"/>
              </a:ext>
            </a:extLst>
          </p:cNvPr>
          <p:cNvSpPr>
            <a:spLocks noGrp="1"/>
          </p:cNvSpPr>
          <p:nvPr/>
        </p:nvSpPr>
        <p:spPr>
          <a:xfrm>
            <a:off x="5772150" y="2533650"/>
            <a:ext cx="457200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B5EF24-0805-449C-97B3-28922E87D275}"/>
              </a:ext>
            </a:extLst>
          </p:cNvPr>
          <p:cNvSpPr>
            <a:spLocks noGrp="1"/>
          </p:cNvSpPr>
          <p:nvPr/>
        </p:nvSpPr>
        <p:spPr>
          <a:xfrm>
            <a:off x="5772150" y="27622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② 让未散射光绕开物镜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ED578D-8BE2-4F08-9767-8C6D75E33DBB}"/>
              </a:ext>
            </a:extLst>
          </p:cNvPr>
          <p:cNvSpPr>
            <a:spLocks noGrp="1"/>
          </p:cNvSpPr>
          <p:nvPr/>
        </p:nvSpPr>
        <p:spPr>
          <a:xfrm>
            <a:off x="5772150" y="3171825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样品不存在时，视野接近黑色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0AB88FC1-1B5E-49F3-9279-421B173D6A9D}"/>
              </a:ext>
            </a:extLst>
          </p:cNvPr>
          <p:cNvSpPr>
            <a:spLocks noGrp="1"/>
          </p:cNvSpPr>
          <p:nvPr/>
        </p:nvSpPr>
        <p:spPr>
          <a:xfrm>
            <a:off x="5772150" y="3648075"/>
            <a:ext cx="457200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2EB75C-7317-4B6B-AA38-11164F839D2A}"/>
              </a:ext>
            </a:extLst>
          </p:cNvPr>
          <p:cNvSpPr>
            <a:spLocks noGrp="1"/>
          </p:cNvSpPr>
          <p:nvPr/>
        </p:nvSpPr>
        <p:spPr>
          <a:xfrm>
            <a:off x="5772150" y="387667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③ 样品把光改向物镜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5AD778-B51E-4D37-ABBB-E0AFE5FD52DB}"/>
              </a:ext>
            </a:extLst>
          </p:cNvPr>
          <p:cNvSpPr>
            <a:spLocks noGrp="1"/>
          </p:cNvSpPr>
          <p:nvPr/>
        </p:nvSpPr>
        <p:spPr>
          <a:xfrm>
            <a:off x="5772150" y="428625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散射、折射或反射后的光形成亮像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F33F61F-DF7E-46D1-955A-09E6BE8F7CC6}"/>
              </a:ext>
            </a:extLst>
          </p:cNvPr>
          <p:cNvSpPr>
            <a:spLocks noGrp="1"/>
          </p:cNvSpPr>
          <p:nvPr/>
        </p:nvSpPr>
        <p:spPr>
          <a:xfrm>
            <a:off x="5772150" y="4933950"/>
            <a:ext cx="4953000" cy="714375"/>
          </a:xfrm>
          <a:prstGeom prst="roundRect">
            <a:avLst>
              <a:gd name="adj" fmla="val 10667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23D729-A2FC-413E-9043-0D535B104ACC}"/>
              </a:ext>
            </a:extLst>
          </p:cNvPr>
          <p:cNvSpPr>
            <a:spLocks noGrp="1"/>
          </p:cNvSpPr>
          <p:nvPr/>
        </p:nvSpPr>
        <p:spPr>
          <a:xfrm>
            <a:off x="5962650" y="5057775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暗场 = 照明路径与收集路径的空间分离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6DC20B-CF5F-4205-96C1-7307257A3411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 &amp; Abramowitz (2002), Fig. 14</a:t>
            </a:r>
          </a:p>
        </p:txBody>
      </p:sp>
    </p:spTree>
    <p:extLst>
      <p:ext uri="{BB962C8B-B14F-4D97-AF65-F5344CB8AC3E}">
        <p14:creationId xmlns:p14="http://schemas.microsoft.com/office/powerpoint/2010/main" val="70248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4CFA297C-8156-457C-8D9A-F457F47AC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D0403C-7827-4A41-9FCE-6FAD12503F1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B4E32-C487-4E7E-A613-0700DDB9D4DB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几何条件：照明锥必须从物镜外侧掠过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A57F55C-8875-4822-97A5-4927C77148BD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27705D-2202-455A-9AB1-B85E9739027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D2F9F5-D817-4D77-B7F7-7F3645BBC8D6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4095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285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NA = n · sin 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5C032-CEDE-4CC3-B559-F498ED0D8292}"/>
              </a:ext>
            </a:extLst>
          </p:cNvPr>
          <p:cNvSpPr>
            <a:spLocks noGrp="1"/>
          </p:cNvSpPr>
          <p:nvPr/>
        </p:nvSpPr>
        <p:spPr>
          <a:xfrm>
            <a:off x="704850" y="2085975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介质折射率 × 光线半角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2180BA5-CFBE-4CC5-BB27-A394E8320E3C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4533900" cy="1943100"/>
          </a:xfrm>
          <a:prstGeom prst="roundRect">
            <a:avLst>
              <a:gd name="adj" fmla="val 3922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D6FF4B-E283-4647-AC97-B44A28D9D0AF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89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暗场成立的关键不等式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9A4236-4445-4EE6-ABAB-D5855D2EE900}"/>
              </a:ext>
            </a:extLst>
          </p:cNvPr>
          <p:cNvSpPr>
            <a:spLocks noGrp="1"/>
          </p:cNvSpPr>
          <p:nvPr/>
        </p:nvSpPr>
        <p:spPr>
          <a:xfrm>
            <a:off x="914400" y="3400425"/>
            <a:ext cx="4000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照明环最小 NA  &gt;  物镜 NA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80FA6C-D524-44BD-A32F-8FFB6CF71C78}"/>
              </a:ext>
            </a:extLst>
          </p:cNvPr>
          <p:cNvSpPr>
            <a:spLocks noGrp="1"/>
          </p:cNvSpPr>
          <p:nvPr/>
        </p:nvSpPr>
        <p:spPr>
          <a:xfrm>
            <a:off x="1000125" y="4067175"/>
            <a:ext cx="38290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383" lnSpcReduction="10000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比较的是照明环的最小 NA，而不是只比较聚光镜铭牌上的最大 NA。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4AACF36-ADA5-4CFC-9C01-775A4E26BC4D}"/>
              </a:ext>
            </a:extLst>
          </p:cNvPr>
          <p:cNvSpPr>
            <a:spLocks noGrp="1"/>
          </p:cNvSpPr>
          <p:nvPr/>
        </p:nvSpPr>
        <p:spPr>
          <a:xfrm>
            <a:off x="7105650" y="16573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647486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F781E4-8837-49E4-9ACF-38F0117CCCCF}"/>
              </a:ext>
            </a:extLst>
          </p:cNvPr>
          <p:cNvSpPr>
            <a:spLocks noGrp="1"/>
          </p:cNvSpPr>
          <p:nvPr/>
        </p:nvSpPr>
        <p:spPr>
          <a:xfrm>
            <a:off x="7200900" y="168592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物镜入口瞳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B4479BC-D567-4363-9BBE-F0128C572437}"/>
              </a:ext>
            </a:extLst>
          </p:cNvPr>
          <p:cNvSpPr>
            <a:spLocks noGrp="1"/>
          </p:cNvSpPr>
          <p:nvPr/>
        </p:nvSpPr>
        <p:spPr>
          <a:xfrm>
            <a:off x="7372350" y="3200400"/>
            <a:ext cx="895350" cy="895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C73A8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13F19C-5774-43E9-903C-A6D668CDBADB}"/>
              </a:ext>
            </a:extLst>
          </p:cNvPr>
          <p:cNvSpPr>
            <a:spLocks noGrp="1"/>
          </p:cNvSpPr>
          <p:nvPr/>
        </p:nvSpPr>
        <p:spPr>
          <a:xfrm>
            <a:off x="7505700" y="347662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593" lnSpcReduction="1000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样品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39457F66-3A0F-4CD2-A935-D85A796055F0}"/>
              </a:ext>
            </a:extLst>
          </p:cNvPr>
          <p:cNvSpPr>
            <a:spLocks noGrp="1"/>
          </p:cNvSpPr>
          <p:nvPr/>
        </p:nvSpPr>
        <p:spPr>
          <a:xfrm>
            <a:off x="6000750" y="2066925"/>
            <a:ext cx="1809750" cy="1123950"/>
          </a:xfrm>
          <a:prstGeom prst="line">
            <a:avLst/>
          </a:prstGeom>
          <a:noFill/>
          <a:ln w="47625">
            <a:solidFill>
              <a:srgbClr val="F2A541"/>
            </a:solidFill>
            <a:prstDash val="solid"/>
          </a:ln>
        </p:spPr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9BCBA495-9ECF-43D0-A8E0-D36F72D73D33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1809750" cy="1123950"/>
          </a:xfrm>
          <a:prstGeom prst="line">
            <a:avLst/>
          </a:prstGeom>
          <a:noFill/>
          <a:ln w="47625">
            <a:solidFill>
              <a:srgbClr val="F2A541"/>
            </a:solidFill>
            <a:prstDash val="solid"/>
          </a:ln>
        </p:spPr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41473EFB-0A52-4C18-AFD9-570B76E5A1CF}"/>
              </a:ext>
            </a:extLst>
          </p:cNvPr>
          <p:cNvSpPr>
            <a:spLocks noGrp="1"/>
          </p:cNvSpPr>
          <p:nvPr/>
        </p:nvSpPr>
        <p:spPr>
          <a:xfrm>
            <a:off x="7219950" y="1962150"/>
            <a:ext cx="590550" cy="1219200"/>
          </a:xfrm>
          <a:prstGeom prst="line">
            <a:avLst/>
          </a:prstGeom>
          <a:noFill/>
          <a:ln w="38100">
            <a:solidFill>
              <a:srgbClr val="64B6CE"/>
            </a:solidFill>
            <a:prstDash val="solid"/>
          </a:ln>
        </p:spPr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98800915-E264-4874-B5DA-44BA7FE46639}"/>
              </a:ext>
            </a:extLst>
          </p:cNvPr>
          <p:cNvSpPr>
            <a:spLocks noGrp="1"/>
          </p:cNvSpPr>
          <p:nvPr/>
        </p:nvSpPr>
        <p:spPr>
          <a:xfrm>
            <a:off x="8039100" y="1962150"/>
            <a:ext cx="590550" cy="1219200"/>
          </a:xfrm>
          <a:prstGeom prst="line">
            <a:avLst/>
          </a:prstGeom>
          <a:noFill/>
          <a:ln w="38100">
            <a:solidFill>
              <a:srgbClr val="64B6C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5806E0-8BD7-4830-A76C-69568337A1E6}"/>
              </a:ext>
            </a:extLst>
          </p:cNvPr>
          <p:cNvSpPr>
            <a:spLocks noGrp="1"/>
          </p:cNvSpPr>
          <p:nvPr/>
        </p:nvSpPr>
        <p:spPr>
          <a:xfrm>
            <a:off x="5457825" y="2038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rPr>
              <a:t>高角度照明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F32A6C-496A-4CC4-9E1F-7E1A3EF4C3BB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64B6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B6CE"/>
                </a:solidFill>
                <a:latin typeface="Microsoft YaHei"/>
                <a:ea typeface="Microsoft YaHei"/>
                <a:cs typeface="Microsoft YaHei"/>
              </a:rPr>
              <a:t>散射光进入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AE720B-CB7F-49BE-91BC-E03B4EFBD2D9}"/>
              </a:ext>
            </a:extLst>
          </p:cNvPr>
          <p:cNvSpPr>
            <a:spLocks noGrp="1"/>
          </p:cNvSpPr>
          <p:nvPr/>
        </p:nvSpPr>
        <p:spPr>
          <a:xfrm>
            <a:off x="6667500" y="49149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直射光绕开物镜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64200B-4E79-4346-998D-1A90F46EBE69}"/>
              </a:ext>
            </a:extLst>
          </p:cNvPr>
          <p:cNvSpPr>
            <a:spLocks noGrp="1"/>
          </p:cNvSpPr>
          <p:nvPr/>
        </p:nvSpPr>
        <p:spPr>
          <a:xfrm>
            <a:off x="6362700" y="540067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对中偏差 → 光锥蹭进物镜 → 背景立刻变灰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4E0A49-242A-48BB-89B2-CD77DA4636C3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条件表述依据：Davidson &amp; Abramowitz (2002); Nikon MicroscopyU Darkfield Illumination</a:t>
            </a:r>
          </a:p>
        </p:txBody>
      </p:sp>
    </p:spTree>
    <p:extLst>
      <p:ext uri="{BB962C8B-B14F-4D97-AF65-F5344CB8AC3E}">
        <p14:creationId xmlns:p14="http://schemas.microsoft.com/office/powerpoint/2010/main" val="112943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989949EA-2ADE-475D-8890-91C1E41550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218493-7096-4D53-89A9-ECB028F2453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EAA24F-3058-4482-AD50-4B1A9200B33F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一台暗场显微镜长什么样？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FF7D201-D98F-4E6E-8697-A56FDD6E589D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4874DC-B344-4F30-A873-1A0BA9ACCDE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7DA117-A98C-4F19-BE5E-A7FA4F58D6AC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3429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DD641F9-0376-4411-9FF8-7DE4064D2370}"/>
              </a:ext>
            </a:extLst>
          </p:cNvPr>
          <p:cNvSpPr>
            <a:spLocks noGrp="1"/>
          </p:cNvSpPr>
          <p:nvPr/>
        </p:nvSpPr>
        <p:spPr>
          <a:xfrm>
            <a:off x="723900" y="1838325"/>
            <a:ext cx="533400" cy="53340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6D851B-D663-4FCC-A3CD-B6AA0463618A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909" lnSpcReduction="10000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18EF1E-2305-4139-A461-72D81B45A640}"/>
              </a:ext>
            </a:extLst>
          </p:cNvPr>
          <p:cNvSpPr>
            <a:spLocks noGrp="1"/>
          </p:cNvSpPr>
          <p:nvPr/>
        </p:nvSpPr>
        <p:spPr>
          <a:xfrm>
            <a:off x="1409700" y="17716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45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FAD229-7C1C-4D10-8BA6-0797AA40EE62}"/>
              </a:ext>
            </a:extLst>
          </p:cNvPr>
          <p:cNvSpPr>
            <a:spLocks noGrp="1"/>
          </p:cNvSpPr>
          <p:nvPr/>
        </p:nvSpPr>
        <p:spPr>
          <a:xfrm>
            <a:off x="1409700" y="2171700"/>
            <a:ext cx="22669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提供足够的照明功率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9E2113-51C8-4602-A0A2-6C630C2FCB8B}"/>
              </a:ext>
            </a:extLst>
          </p:cNvPr>
          <p:cNvSpPr>
            <a:spLocks noGrp="1"/>
          </p:cNvSpPr>
          <p:nvPr/>
        </p:nvSpPr>
        <p:spPr>
          <a:xfrm>
            <a:off x="4267200" y="1581150"/>
            <a:ext cx="3429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DCD7449-F8D6-4AD0-BE3E-556C76585586}"/>
              </a:ext>
            </a:extLst>
          </p:cNvPr>
          <p:cNvSpPr>
            <a:spLocks noGrp="1"/>
          </p:cNvSpPr>
          <p:nvPr/>
        </p:nvSpPr>
        <p:spPr>
          <a:xfrm>
            <a:off x="4476750" y="1838325"/>
            <a:ext cx="533400" cy="53340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0957B8-8BEF-4CC9-AB50-FC1BC5ECD023}"/>
              </a:ext>
            </a:extLst>
          </p:cNvPr>
          <p:cNvSpPr>
            <a:spLocks noGrp="1"/>
          </p:cNvSpPr>
          <p:nvPr/>
        </p:nvSpPr>
        <p:spPr>
          <a:xfrm>
            <a:off x="4591050" y="1952625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909" lnSpcReduction="10000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2B24F4-C4BA-4235-A7C0-A56B5F4CDF14}"/>
              </a:ext>
            </a:extLst>
          </p:cNvPr>
          <p:cNvSpPr>
            <a:spLocks noGrp="1"/>
          </p:cNvSpPr>
          <p:nvPr/>
        </p:nvSpPr>
        <p:spPr>
          <a:xfrm>
            <a:off x="5162550" y="17716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45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中央遮光片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A92F9F-9E88-4943-9BE3-0539B345192B}"/>
              </a:ext>
            </a:extLst>
          </p:cNvPr>
          <p:cNvSpPr>
            <a:spLocks noGrp="1"/>
          </p:cNvSpPr>
          <p:nvPr/>
        </p:nvSpPr>
        <p:spPr>
          <a:xfrm>
            <a:off x="5162550" y="2171700"/>
            <a:ext cx="22669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去掉低角度直射光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5BC2B13-D63C-48A3-B8BC-74CD2EC46F26}"/>
              </a:ext>
            </a:extLst>
          </p:cNvPr>
          <p:cNvSpPr>
            <a:spLocks noGrp="1"/>
          </p:cNvSpPr>
          <p:nvPr/>
        </p:nvSpPr>
        <p:spPr>
          <a:xfrm>
            <a:off x="8020050" y="1581150"/>
            <a:ext cx="3429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CDC1A59-F142-431B-9544-B5232660AF33}"/>
              </a:ext>
            </a:extLst>
          </p:cNvPr>
          <p:cNvSpPr>
            <a:spLocks noGrp="1"/>
          </p:cNvSpPr>
          <p:nvPr/>
        </p:nvSpPr>
        <p:spPr>
          <a:xfrm>
            <a:off x="8229600" y="1838325"/>
            <a:ext cx="533400" cy="5334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B6F7D8-114B-4816-B1D8-E76FED0F5028}"/>
              </a:ext>
            </a:extLst>
          </p:cNvPr>
          <p:cNvSpPr>
            <a:spLocks noGrp="1"/>
          </p:cNvSpPr>
          <p:nvPr/>
        </p:nvSpPr>
        <p:spPr>
          <a:xfrm>
            <a:off x="8343900" y="1952625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909" lnSpcReduction="10000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7FFAA8-7B44-422C-A515-525A6B527865}"/>
              </a:ext>
            </a:extLst>
          </p:cNvPr>
          <p:cNvSpPr>
            <a:spLocks noGrp="1"/>
          </p:cNvSpPr>
          <p:nvPr/>
        </p:nvSpPr>
        <p:spPr>
          <a:xfrm>
            <a:off x="8915400" y="17716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45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暗场聚光镜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9D4493-6EF0-485B-8E80-F0637D509880}"/>
              </a:ext>
            </a:extLst>
          </p:cNvPr>
          <p:cNvSpPr>
            <a:spLocks noGrp="1"/>
          </p:cNvSpPr>
          <p:nvPr/>
        </p:nvSpPr>
        <p:spPr>
          <a:xfrm>
            <a:off x="8915400" y="2171700"/>
            <a:ext cx="22669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形成高角度空心光锥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55789DA-E0AE-4D83-AEBB-180B37790CC8}"/>
              </a:ext>
            </a:extLst>
          </p:cNvPr>
          <p:cNvSpPr>
            <a:spLocks noGrp="1"/>
          </p:cNvSpPr>
          <p:nvPr/>
        </p:nvSpPr>
        <p:spPr>
          <a:xfrm>
            <a:off x="514350" y="3105150"/>
            <a:ext cx="3429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FA13CDC-5043-414E-9B31-5CBF5A4298F6}"/>
              </a:ext>
            </a:extLst>
          </p:cNvPr>
          <p:cNvSpPr>
            <a:spLocks noGrp="1"/>
          </p:cNvSpPr>
          <p:nvPr/>
        </p:nvSpPr>
        <p:spPr>
          <a:xfrm>
            <a:off x="723900" y="3362325"/>
            <a:ext cx="533400" cy="53340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DD03DD-9AAA-4243-8554-47442A4203CE}"/>
              </a:ext>
            </a:extLst>
          </p:cNvPr>
          <p:cNvSpPr>
            <a:spLocks noGrp="1"/>
          </p:cNvSpPr>
          <p:nvPr/>
        </p:nvSpPr>
        <p:spPr>
          <a:xfrm>
            <a:off x="838200" y="3476625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909" lnSpcReduction="10000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4D3FB2-F480-41C6-9B6E-708033CF4069}"/>
              </a:ext>
            </a:extLst>
          </p:cNvPr>
          <p:cNvSpPr>
            <a:spLocks noGrp="1"/>
          </p:cNvSpPr>
          <p:nvPr/>
        </p:nvSpPr>
        <p:spPr>
          <a:xfrm>
            <a:off x="1409700" y="32956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45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样品 + 载玻片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27D8B3-B14D-4130-8167-EA6B5A6CEDA2}"/>
              </a:ext>
            </a:extLst>
          </p:cNvPr>
          <p:cNvSpPr>
            <a:spLocks noGrp="1"/>
          </p:cNvSpPr>
          <p:nvPr/>
        </p:nvSpPr>
        <p:spPr>
          <a:xfrm>
            <a:off x="1409700" y="3695700"/>
            <a:ext cx="22669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把光散射/折射进物镜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3A337BD-470E-44BC-99D1-EB7F567C3172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429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44AB451-D108-494E-8D5D-DD5432DCA337}"/>
              </a:ext>
            </a:extLst>
          </p:cNvPr>
          <p:cNvSpPr>
            <a:spLocks noGrp="1"/>
          </p:cNvSpPr>
          <p:nvPr/>
        </p:nvSpPr>
        <p:spPr>
          <a:xfrm>
            <a:off x="4476750" y="3362325"/>
            <a:ext cx="533400" cy="53340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8BC8A91-6F8B-4EF9-894D-220012353781}"/>
              </a:ext>
            </a:extLst>
          </p:cNvPr>
          <p:cNvSpPr>
            <a:spLocks noGrp="1"/>
          </p:cNvSpPr>
          <p:nvPr/>
        </p:nvSpPr>
        <p:spPr>
          <a:xfrm>
            <a:off x="4591050" y="3476625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909" lnSpcReduction="10000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065CBE-3B6E-43E2-A926-3E19F6619E0A}"/>
              </a:ext>
            </a:extLst>
          </p:cNvPr>
          <p:cNvSpPr>
            <a:spLocks noGrp="1"/>
          </p:cNvSpPr>
          <p:nvPr/>
        </p:nvSpPr>
        <p:spPr>
          <a:xfrm>
            <a:off x="5162550" y="32956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45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物镜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6F3EC8D-A44F-4249-9F5C-F1E02399F1F5}"/>
              </a:ext>
            </a:extLst>
          </p:cNvPr>
          <p:cNvSpPr>
            <a:spLocks noGrp="1"/>
          </p:cNvSpPr>
          <p:nvPr/>
        </p:nvSpPr>
        <p:spPr>
          <a:xfrm>
            <a:off x="5162550" y="3695700"/>
            <a:ext cx="22669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只接收落入其 NA 的光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462034A-C578-4D63-AD9E-C579562B8A8E}"/>
              </a:ext>
            </a:extLst>
          </p:cNvPr>
          <p:cNvSpPr>
            <a:spLocks noGrp="1"/>
          </p:cNvSpPr>
          <p:nvPr/>
        </p:nvSpPr>
        <p:spPr>
          <a:xfrm>
            <a:off x="8020050" y="3105150"/>
            <a:ext cx="3429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511AF436-9D6B-40EC-B6B6-59FC524B7FA0}"/>
              </a:ext>
            </a:extLst>
          </p:cNvPr>
          <p:cNvSpPr>
            <a:spLocks noGrp="1"/>
          </p:cNvSpPr>
          <p:nvPr/>
        </p:nvSpPr>
        <p:spPr>
          <a:xfrm>
            <a:off x="8229600" y="3362325"/>
            <a:ext cx="533400" cy="5334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075996-0DF9-41CF-8144-B6DFFA6F6DD9}"/>
              </a:ext>
            </a:extLst>
          </p:cNvPr>
          <p:cNvSpPr>
            <a:spLocks noGrp="1"/>
          </p:cNvSpPr>
          <p:nvPr/>
        </p:nvSpPr>
        <p:spPr>
          <a:xfrm>
            <a:off x="8343900" y="3476625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909" lnSpcReduction="10000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788B65-3307-4C3F-91B9-E8670B8C8D9D}"/>
              </a:ext>
            </a:extLst>
          </p:cNvPr>
          <p:cNvSpPr>
            <a:spLocks noGrp="1"/>
          </p:cNvSpPr>
          <p:nvPr/>
        </p:nvSpPr>
        <p:spPr>
          <a:xfrm>
            <a:off x="8915400" y="32956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45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相机 / 目镜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9D253F4-C210-4D61-92F9-9AC215D1EE67}"/>
              </a:ext>
            </a:extLst>
          </p:cNvPr>
          <p:cNvSpPr>
            <a:spLocks noGrp="1"/>
          </p:cNvSpPr>
          <p:nvPr/>
        </p:nvSpPr>
        <p:spPr>
          <a:xfrm>
            <a:off x="8915400" y="3695700"/>
            <a:ext cx="22669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记录亮点、轮廓或轨迹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EE77198-E571-4928-A89E-3A0619C6BE71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0934700" cy="466725"/>
          </a:xfrm>
          <a:prstGeom prst="roundRect">
            <a:avLst>
              <a:gd name="adj" fmla="val 7843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098AC56-233A-4647-A910-70B89D9ADB7B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可升级模块</a:t>
            </a:r>
            <a:endParaRPr sz="15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1720FFA-6B65-41E2-818B-1CBACB8CEAC9}"/>
              </a:ext>
            </a:extLst>
          </p:cNvPr>
          <p:cNvSpPr>
            <a:spLocks noGrp="1"/>
          </p:cNvSpPr>
          <p:nvPr/>
        </p:nvSpPr>
        <p:spPr>
          <a:xfrm>
            <a:off x="1162050" y="6286500"/>
            <a:ext cx="8572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偏振片：抑制表面反光</a:t>
            </a:r>
            <a:r>
              <a:rPr sz="1350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·   </a:t>
            </a:r>
            <a:r>
              <a:rPr sz="1350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光谱仪：记录散射谱</a:t>
            </a:r>
            <a:r>
              <a:rPr sz="1350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·   </a:t>
            </a:r>
            <a:r>
              <a:rPr sz="1350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微流控：控制颗粒与浓度</a:t>
            </a:r>
            <a:endParaRPr sz="1350" b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1432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9FBCA1D3-3722-43B7-9ED6-8C957EEBC1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F4CE12-1F43-4436-B416-D7FB055FF16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5F6966-30B8-4A5E-96DD-3D84D4435D44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三种结构，解决三类场景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6F62DDC-8076-4564-9F00-26200486C313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FC80C6-F424-4EBC-8C97-5641A688586F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FDF01BE-10E8-49BB-9C18-006EE12F922B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3352800" cy="424815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21296" y="1657350"/>
            <a:ext cx="1738908" cy="219075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90ECC1E-9431-4887-9C48-632783B6E450}"/>
              </a:ext>
            </a:extLst>
          </p:cNvPr>
          <p:cNvSpPr>
            <a:spLocks noGrp="1"/>
          </p:cNvSpPr>
          <p:nvPr/>
        </p:nvSpPr>
        <p:spPr>
          <a:xfrm>
            <a:off x="704850" y="40005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BA898A-495A-460F-AE69-27103D7C8791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透射暗场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C7DC82-6A57-4E4A-977E-63C3B60D4137}"/>
              </a:ext>
            </a:extLst>
          </p:cNvPr>
          <p:cNvSpPr>
            <a:spLocks noGrp="1"/>
          </p:cNvSpPr>
          <p:nvPr/>
        </p:nvSpPr>
        <p:spPr>
          <a:xfrm>
            <a:off x="723900" y="4410075"/>
            <a:ext cx="29337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透明样品 / 微生物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5AF124-B8DB-47C5-BF26-F69575CBEC75}"/>
              </a:ext>
            </a:extLst>
          </p:cNvPr>
          <p:cNvSpPr>
            <a:spLocks noGrp="1"/>
          </p:cNvSpPr>
          <p:nvPr/>
        </p:nvSpPr>
        <p:spPr>
          <a:xfrm>
            <a:off x="723900" y="4876800"/>
            <a:ext cx="2933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环形斜照明从下方入射；未散射光绕开物镜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2BD2F97-F25D-4B91-8E22-A23567610F26}"/>
              </a:ext>
            </a:extLst>
          </p:cNvPr>
          <p:cNvSpPr>
            <a:spLocks noGrp="1"/>
          </p:cNvSpPr>
          <p:nvPr/>
        </p:nvSpPr>
        <p:spPr>
          <a:xfrm>
            <a:off x="4229100" y="1504950"/>
            <a:ext cx="3352800" cy="424815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24164" y="1657350"/>
            <a:ext cx="1762672" cy="21907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5E547BB-3F15-42CC-A8BF-9AFF54B050FE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9D65CF-162C-483B-A400-39B68553BB23}"/>
              </a:ext>
            </a:extLst>
          </p:cNvPr>
          <p:cNvSpPr>
            <a:spLocks noGrp="1"/>
          </p:cNvSpPr>
          <p:nvPr/>
        </p:nvSpPr>
        <p:spPr>
          <a:xfrm>
            <a:off x="4495800" y="40100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反射暗场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3CC5AA-9FA2-4B38-809A-CBFA11E93E51}"/>
              </a:ext>
            </a:extLst>
          </p:cNvPr>
          <p:cNvSpPr>
            <a:spLocks noGrp="1"/>
          </p:cNvSpPr>
          <p:nvPr/>
        </p:nvSpPr>
        <p:spPr>
          <a:xfrm>
            <a:off x="4438650" y="4410075"/>
            <a:ext cx="29337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晶圆 / 光学表面缺陷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AC0E97-E6E1-415A-9F2E-0F96D86307C8}"/>
              </a:ext>
            </a:extLst>
          </p:cNvPr>
          <p:cNvSpPr>
            <a:spLocks noGrp="1"/>
          </p:cNvSpPr>
          <p:nvPr/>
        </p:nvSpPr>
        <p:spPr>
          <a:xfrm>
            <a:off x="4438650" y="4876800"/>
            <a:ext cx="2933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从上方斜照明；划痕与颗粒把光散射回物镜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21ECF9B-7B90-48CF-933F-BA83D8A53913}"/>
              </a:ext>
            </a:extLst>
          </p:cNvPr>
          <p:cNvSpPr>
            <a:spLocks noGrp="1"/>
          </p:cNvSpPr>
          <p:nvPr/>
        </p:nvSpPr>
        <p:spPr>
          <a:xfrm>
            <a:off x="7943850" y="1504950"/>
            <a:ext cx="3352800" cy="424815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15300" y="1797201"/>
            <a:ext cx="3009900" cy="1911048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A641BFD-7CD9-4FDA-B884-DA7FD3048EE2}"/>
              </a:ext>
            </a:extLst>
          </p:cNvPr>
          <p:cNvSpPr>
            <a:spLocks noGrp="1"/>
          </p:cNvSpPr>
          <p:nvPr/>
        </p:nvSpPr>
        <p:spPr>
          <a:xfrm>
            <a:off x="8134350" y="40005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18E935-9BB5-47E5-B502-0007A66A583D}"/>
              </a:ext>
            </a:extLst>
          </p:cNvPr>
          <p:cNvSpPr>
            <a:spLocks noGrp="1"/>
          </p:cNvSpPr>
          <p:nvPr/>
        </p:nvSpPr>
        <p:spPr>
          <a:xfrm>
            <a:off x="8210550" y="40100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TIR 暗场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49A29CC-2AFF-41E3-9885-59F7B6960F41}"/>
              </a:ext>
            </a:extLst>
          </p:cNvPr>
          <p:cNvSpPr>
            <a:spLocks noGrp="1"/>
          </p:cNvSpPr>
          <p:nvPr/>
        </p:nvSpPr>
        <p:spPr>
          <a:xfrm>
            <a:off x="8153400" y="4410075"/>
            <a:ext cx="29337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界面 / 单颗粒追踪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ABC38F-9CE1-4851-9044-D3282A178F1C}"/>
              </a:ext>
            </a:extLst>
          </p:cNvPr>
          <p:cNvSpPr>
            <a:spLocks noGrp="1"/>
          </p:cNvSpPr>
          <p:nvPr/>
        </p:nvSpPr>
        <p:spPr>
          <a:xfrm>
            <a:off x="8153400" y="4876800"/>
            <a:ext cx="2933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全反射产生倏逝场，把照明限制在界面附近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F2D133-5DD1-40C0-9BF0-A0A02BBB5B5D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 2002；Li et al., Chinese Optics Letters 2017；Enoki et al., PLOS ONE 2012</a:t>
            </a:r>
          </a:p>
        </p:txBody>
      </p:sp>
    </p:spTree>
    <p:extLst>
      <p:ext uri="{BB962C8B-B14F-4D97-AF65-F5344CB8AC3E}">
        <p14:creationId xmlns:p14="http://schemas.microsoft.com/office/powerpoint/2010/main" val="179134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8666725-280D-49ED-B214-CF7B056778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7A52A4-16E4-46D7-98B1-72CD0864064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93FC83-2C1E-4D0E-8DC0-A6D8F7C02DC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图像亮度从哪里来？样品把光重新分配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73E63BD-0BB3-4792-83C2-4E26AE4B7F0C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21E8B4-9646-478F-BF70-5C903A505CA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045A0C1-4A06-4942-97E1-516CB10B63A7}"/>
              </a:ext>
            </a:extLst>
          </p:cNvPr>
          <p:cNvSpPr>
            <a:spLocks noGrp="1"/>
          </p:cNvSpPr>
          <p:nvPr/>
        </p:nvSpPr>
        <p:spPr>
          <a:xfrm>
            <a:off x="1390650" y="1838325"/>
            <a:ext cx="952500" cy="9525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842E9D-ECEF-46B4-8792-CBBFC439ED99}"/>
              </a:ext>
            </a:extLst>
          </p:cNvPr>
          <p:cNvSpPr>
            <a:spLocks noGrp="1"/>
          </p:cNvSpPr>
          <p:nvPr/>
        </p:nvSpPr>
        <p:spPr>
          <a:xfrm>
            <a:off x="1657350" y="21050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A778D3-9D3A-4C9C-ABEC-51904CC9E3E7}"/>
              </a:ext>
            </a:extLst>
          </p:cNvPr>
          <p:cNvSpPr>
            <a:spLocks noGrp="1"/>
          </p:cNvSpPr>
          <p:nvPr/>
        </p:nvSpPr>
        <p:spPr>
          <a:xfrm>
            <a:off x="628650" y="29908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20" lnSpcReduction="1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入射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6F778C-E1CB-4AFA-8423-9D2710D8276D}"/>
              </a:ext>
            </a:extLst>
          </p:cNvPr>
          <p:cNvSpPr>
            <a:spLocks noGrp="1"/>
          </p:cNvSpPr>
          <p:nvPr/>
        </p:nvSpPr>
        <p:spPr>
          <a:xfrm>
            <a:off x="628650" y="339090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高角度照明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401D095-834B-4D72-83C8-7084CC124B8A}"/>
              </a:ext>
            </a:extLst>
          </p:cNvPr>
          <p:cNvSpPr>
            <a:spLocks noGrp="1"/>
          </p:cNvSpPr>
          <p:nvPr/>
        </p:nvSpPr>
        <p:spPr>
          <a:xfrm>
            <a:off x="2914650" y="2209800"/>
            <a:ext cx="704850" cy="209550"/>
          </a:xfrm>
          <a:prstGeom prst="roundRect">
            <a:avLst>
              <a:gd name="adj" fmla="val 36364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C10F69-BEF3-4E3C-ACA5-1FA8D174ED99}"/>
              </a:ext>
            </a:extLst>
          </p:cNvPr>
          <p:cNvSpPr>
            <a:spLocks noGrp="1"/>
          </p:cNvSpPr>
          <p:nvPr/>
        </p:nvSpPr>
        <p:spPr>
          <a:xfrm>
            <a:off x="3019425" y="217170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136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AD44304-DEA9-40C1-BC4B-7A3E021451B8}"/>
              </a:ext>
            </a:extLst>
          </p:cNvPr>
          <p:cNvSpPr>
            <a:spLocks noGrp="1"/>
          </p:cNvSpPr>
          <p:nvPr/>
        </p:nvSpPr>
        <p:spPr>
          <a:xfrm>
            <a:off x="4191000" y="1838325"/>
            <a:ext cx="952500" cy="95250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264226-E1C0-46F7-9B35-8DEE439AA7A4}"/>
              </a:ext>
            </a:extLst>
          </p:cNvPr>
          <p:cNvSpPr>
            <a:spLocks noGrp="1"/>
          </p:cNvSpPr>
          <p:nvPr/>
        </p:nvSpPr>
        <p:spPr>
          <a:xfrm>
            <a:off x="4457700" y="21050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6137B8-2F12-4DC6-B41F-263E171B1D19}"/>
              </a:ext>
            </a:extLst>
          </p:cNvPr>
          <p:cNvSpPr>
            <a:spLocks noGrp="1"/>
          </p:cNvSpPr>
          <p:nvPr/>
        </p:nvSpPr>
        <p:spPr>
          <a:xfrm>
            <a:off x="3429000" y="29908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20" lnSpcReduction="1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相互作用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4352BA-ABC9-48A5-A06E-2BF912036D09}"/>
              </a:ext>
            </a:extLst>
          </p:cNvPr>
          <p:cNvSpPr>
            <a:spLocks noGrp="1"/>
          </p:cNvSpPr>
          <p:nvPr/>
        </p:nvSpPr>
        <p:spPr>
          <a:xfrm>
            <a:off x="3429000" y="339090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散射 / 折射 / 反射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385D775-DF66-4716-ABA8-BBB2418B08E9}"/>
              </a:ext>
            </a:extLst>
          </p:cNvPr>
          <p:cNvSpPr>
            <a:spLocks noGrp="1"/>
          </p:cNvSpPr>
          <p:nvPr/>
        </p:nvSpPr>
        <p:spPr>
          <a:xfrm>
            <a:off x="5715000" y="2209800"/>
            <a:ext cx="704850" cy="209550"/>
          </a:xfrm>
          <a:prstGeom prst="roundRect">
            <a:avLst>
              <a:gd name="adj" fmla="val 36364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94406D-489E-47C1-B435-F2E2473D605F}"/>
              </a:ext>
            </a:extLst>
          </p:cNvPr>
          <p:cNvSpPr>
            <a:spLocks noGrp="1"/>
          </p:cNvSpPr>
          <p:nvPr/>
        </p:nvSpPr>
        <p:spPr>
          <a:xfrm>
            <a:off x="5819775" y="217170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136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9FF8FEB-E92C-47AD-824B-E0ADFF35D993}"/>
              </a:ext>
            </a:extLst>
          </p:cNvPr>
          <p:cNvSpPr>
            <a:spLocks noGrp="1"/>
          </p:cNvSpPr>
          <p:nvPr/>
        </p:nvSpPr>
        <p:spPr>
          <a:xfrm>
            <a:off x="6991350" y="1838325"/>
            <a:ext cx="952500" cy="95250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52AB32-8695-47F4-AA27-D5AA70F1C855}"/>
              </a:ext>
            </a:extLst>
          </p:cNvPr>
          <p:cNvSpPr>
            <a:spLocks noGrp="1"/>
          </p:cNvSpPr>
          <p:nvPr/>
        </p:nvSpPr>
        <p:spPr>
          <a:xfrm>
            <a:off x="7258050" y="21050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3107A4-9BEB-4C48-A435-2B230CBAFBD7}"/>
              </a:ext>
            </a:extLst>
          </p:cNvPr>
          <p:cNvSpPr>
            <a:spLocks noGrp="1"/>
          </p:cNvSpPr>
          <p:nvPr/>
        </p:nvSpPr>
        <p:spPr>
          <a:xfrm>
            <a:off x="6229350" y="29908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20" lnSpcReduction="1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收集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79996F-77CF-4814-A922-3427D3B8B0B7}"/>
              </a:ext>
            </a:extLst>
          </p:cNvPr>
          <p:cNvSpPr>
            <a:spLocks noGrp="1"/>
          </p:cNvSpPr>
          <p:nvPr/>
        </p:nvSpPr>
        <p:spPr>
          <a:xfrm>
            <a:off x="6229350" y="339090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进入物镜 NA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F014073-72FE-45EC-91F2-20DB5FB0B30A}"/>
              </a:ext>
            </a:extLst>
          </p:cNvPr>
          <p:cNvSpPr>
            <a:spLocks noGrp="1"/>
          </p:cNvSpPr>
          <p:nvPr/>
        </p:nvSpPr>
        <p:spPr>
          <a:xfrm>
            <a:off x="8515350" y="2209800"/>
            <a:ext cx="704850" cy="209550"/>
          </a:xfrm>
          <a:prstGeom prst="roundRect">
            <a:avLst>
              <a:gd name="adj" fmla="val 36364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2654998-445A-4533-A5B2-6B6958EC3ED5}"/>
              </a:ext>
            </a:extLst>
          </p:cNvPr>
          <p:cNvSpPr>
            <a:spLocks noGrp="1"/>
          </p:cNvSpPr>
          <p:nvPr/>
        </p:nvSpPr>
        <p:spPr>
          <a:xfrm>
            <a:off x="8620125" y="217170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136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5F3C2EC-1512-424A-B27C-56D49AD480AB}"/>
              </a:ext>
            </a:extLst>
          </p:cNvPr>
          <p:cNvSpPr>
            <a:spLocks noGrp="1"/>
          </p:cNvSpPr>
          <p:nvPr/>
        </p:nvSpPr>
        <p:spPr>
          <a:xfrm>
            <a:off x="9791700" y="1838325"/>
            <a:ext cx="952500" cy="952500"/>
          </a:xfrm>
          <a:prstGeom prst="ellipse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5D5749-4BF1-4A5F-B1F2-C11817B3BEB1}"/>
              </a:ext>
            </a:extLst>
          </p:cNvPr>
          <p:cNvSpPr>
            <a:spLocks noGrp="1"/>
          </p:cNvSpPr>
          <p:nvPr/>
        </p:nvSpPr>
        <p:spPr>
          <a:xfrm>
            <a:off x="10058400" y="21050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BB9FC2-35A0-4FB5-AC28-C58B2D04098F}"/>
              </a:ext>
            </a:extLst>
          </p:cNvPr>
          <p:cNvSpPr>
            <a:spLocks noGrp="1"/>
          </p:cNvSpPr>
          <p:nvPr/>
        </p:nvSpPr>
        <p:spPr>
          <a:xfrm>
            <a:off x="9029700" y="29908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20" lnSpcReduction="1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成像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5AF57A-06D1-4EDB-9896-20854C5CB32C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点扩散函数 + 噪声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2B33F89-4F18-497E-AD0A-F624B7F5A66A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668000" cy="1104900"/>
          </a:xfrm>
          <a:prstGeom prst="roundRect">
            <a:avLst>
              <a:gd name="adj" fmla="val 6897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C3AFB9-A2F9-4C07-9436-8311A7CFC4A3}"/>
              </a:ext>
            </a:extLst>
          </p:cNvPr>
          <p:cNvSpPr>
            <a:spLocks noGrp="1"/>
          </p:cNvSpPr>
          <p:nvPr/>
        </p:nvSpPr>
        <p:spPr>
          <a:xfrm>
            <a:off x="1028700" y="4638675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90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Rayleigh 小颗粒近似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BEF396-8086-434A-9B34-31727160A23F}"/>
              </a:ext>
            </a:extLst>
          </p:cNvPr>
          <p:cNvSpPr>
            <a:spLocks noGrp="1"/>
          </p:cNvSpPr>
          <p:nvPr/>
        </p:nvSpPr>
        <p:spPr>
          <a:xfrm>
            <a:off x="3562350" y="4552950"/>
            <a:ext cx="24765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240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Iscat ∝ d⁶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4B5F2E-E574-4DFD-AAAB-5CD4CD288EBB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47244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粒径减半，散射信号约降为 1/64；但该标度并非对所有尺寸、形状和材料都成立。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83E0AFE-3E2D-48F0-B391-02307B737EB8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定量边界：Olson et al., Chem. Soc. Rev. 2015; Meng et al., ACS Photonics 2021</a:t>
            </a:r>
          </a:p>
        </p:txBody>
      </p:sp>
    </p:spTree>
    <p:extLst>
      <p:ext uri="{BB962C8B-B14F-4D97-AF65-F5344CB8AC3E}">
        <p14:creationId xmlns:p14="http://schemas.microsoft.com/office/powerpoint/2010/main" val="132244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D9E68078-2444-4D6F-BD8C-2D98EE8548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7DFC6A-A640-4509-BFEB-12A3F6160B97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A70DB9-C681-41CC-B423-022F30C129E6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看见、定位、分辨：是三件不同的事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46EEF5C-89F9-4742-AF31-6A96286C219C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96E1FE-CAB7-4652-A43A-543C88F86E7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F993F20-121B-4BFD-8DAC-9D8B5CE97D3A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10953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9308266-2AA9-4072-A050-2DC11ABE44AE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2228850" cy="952500"/>
          </a:xfrm>
          <a:prstGeom prst="roundRect">
            <a:avLst>
              <a:gd name="adj" fmla="val 8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EE7A7F-278F-45E4-BED3-B8B00B8004E6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18859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看见 Detection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16924B-C8CB-41DD-9792-19FFAA8A8A80}"/>
              </a:ext>
            </a:extLst>
          </p:cNvPr>
          <p:cNvSpPr>
            <a:spLocks noGrp="1"/>
          </p:cNvSpPr>
          <p:nvPr/>
        </p:nvSpPr>
        <p:spPr>
          <a:xfrm>
            <a:off x="3067050" y="1752600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背景上出现可信亮点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927428-4C4B-4E4D-9DFE-8A0C148EB321}"/>
              </a:ext>
            </a:extLst>
          </p:cNvPr>
          <p:cNvSpPr>
            <a:spLocks noGrp="1"/>
          </p:cNvSpPr>
          <p:nvPr/>
        </p:nvSpPr>
        <p:spPr>
          <a:xfrm>
            <a:off x="3067050" y="2124075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13" lnSpcReduction="10000"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信噪比 / 检出限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F736EAC-8E8C-4110-A2F7-4097ACBB9FBA}"/>
              </a:ext>
            </a:extLst>
          </p:cNvPr>
          <p:cNvSpPr>
            <a:spLocks noGrp="1"/>
          </p:cNvSpPr>
          <p:nvPr/>
        </p:nvSpPr>
        <p:spPr>
          <a:xfrm>
            <a:off x="9020175" y="1914525"/>
            <a:ext cx="247650" cy="2476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64B6CE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77DF0B8-27D1-4C2D-87E2-D37E45F16E79}"/>
              </a:ext>
            </a:extLst>
          </p:cNvPr>
          <p:cNvSpPr>
            <a:spLocks noGrp="1"/>
          </p:cNvSpPr>
          <p:nvPr/>
        </p:nvSpPr>
        <p:spPr>
          <a:xfrm>
            <a:off x="514350" y="2781300"/>
            <a:ext cx="10953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31EC3C-1102-4DD6-AF52-281D8462B9BC}"/>
              </a:ext>
            </a:extLst>
          </p:cNvPr>
          <p:cNvSpPr>
            <a:spLocks noGrp="1"/>
          </p:cNvSpPr>
          <p:nvPr/>
        </p:nvSpPr>
        <p:spPr>
          <a:xfrm>
            <a:off x="514350" y="2781300"/>
            <a:ext cx="2228850" cy="952500"/>
          </a:xfrm>
          <a:prstGeom prst="roundRect">
            <a:avLst>
              <a:gd name="adj" fmla="val 8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F6AFCB-1C18-4F25-991B-E330AD011730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18859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 Localization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1CBE98-1E03-4EC0-8A1B-32E35906D047}"/>
              </a:ext>
            </a:extLst>
          </p:cNvPr>
          <p:cNvSpPr>
            <a:spLocks noGrp="1"/>
          </p:cNvSpPr>
          <p:nvPr/>
        </p:nvSpPr>
        <p:spPr>
          <a:xfrm>
            <a:off x="3067050" y="2952750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估计亮点中心坐标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51AD1F-B6F2-4A25-8CB3-35E174DCB0F7}"/>
              </a:ext>
            </a:extLst>
          </p:cNvPr>
          <p:cNvSpPr>
            <a:spLocks noGrp="1"/>
          </p:cNvSpPr>
          <p:nvPr/>
        </p:nvSpPr>
        <p:spPr>
          <a:xfrm>
            <a:off x="3067050" y="3324225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13" lnSpcReduction="10000"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定位精度 / 轨迹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7EAFD1F-A7CF-4D35-BEC1-20EC15E66247}"/>
              </a:ext>
            </a:extLst>
          </p:cNvPr>
          <p:cNvSpPr>
            <a:spLocks noGrp="1"/>
          </p:cNvSpPr>
          <p:nvPr/>
        </p:nvSpPr>
        <p:spPr>
          <a:xfrm>
            <a:off x="9020175" y="3114675"/>
            <a:ext cx="247650" cy="2476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2C73A8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23C89EB-A3E1-48FA-86C4-65BAD47FECCA}"/>
              </a:ext>
            </a:extLst>
          </p:cNvPr>
          <p:cNvSpPr>
            <a:spLocks noGrp="1"/>
          </p:cNvSpPr>
          <p:nvPr/>
        </p:nvSpPr>
        <p:spPr>
          <a:xfrm>
            <a:off x="514350" y="3981450"/>
            <a:ext cx="10953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EFB1094-F580-4E5A-AD00-D3C60229C378}"/>
              </a:ext>
            </a:extLst>
          </p:cNvPr>
          <p:cNvSpPr>
            <a:spLocks noGrp="1"/>
          </p:cNvSpPr>
          <p:nvPr/>
        </p:nvSpPr>
        <p:spPr>
          <a:xfrm>
            <a:off x="514350" y="3981450"/>
            <a:ext cx="2228850" cy="9525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732726-48C3-4998-829A-D1E77AA75CF4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8859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分辨 Resolution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E65B64-5684-401B-89CB-504939A1EC2F}"/>
              </a:ext>
            </a:extLst>
          </p:cNvPr>
          <p:cNvSpPr>
            <a:spLocks noGrp="1"/>
          </p:cNvSpPr>
          <p:nvPr/>
        </p:nvSpPr>
        <p:spPr>
          <a:xfrm>
            <a:off x="3067050" y="4152900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区分相邻结构或真实形状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E50314-C82E-4204-BECB-06167F230872}"/>
              </a:ext>
            </a:extLst>
          </p:cNvPr>
          <p:cNvSpPr>
            <a:spLocks noGrp="1"/>
          </p:cNvSpPr>
          <p:nvPr/>
        </p:nvSpPr>
        <p:spPr>
          <a:xfrm>
            <a:off x="3067050" y="4524375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13" lnSpcReduction="10000"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点扩散函数 / Rayleigh判据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D7E3287-12E2-4AD1-9CE2-359EFB3CE56E}"/>
              </a:ext>
            </a:extLst>
          </p:cNvPr>
          <p:cNvSpPr>
            <a:spLocks noGrp="1"/>
          </p:cNvSpPr>
          <p:nvPr/>
        </p:nvSpPr>
        <p:spPr>
          <a:xfrm>
            <a:off x="9020175" y="4314825"/>
            <a:ext cx="247650" cy="2476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F2A541"/>
            </a:solidFill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281264E-28E7-4D1C-8F33-156ACF3AD3C1}"/>
              </a:ext>
            </a:extLst>
          </p:cNvPr>
          <p:cNvSpPr>
            <a:spLocks noGrp="1"/>
          </p:cNvSpPr>
          <p:nvPr/>
        </p:nvSpPr>
        <p:spPr>
          <a:xfrm>
            <a:off x="9420225" y="4314825"/>
            <a:ext cx="247650" cy="2476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F2A541"/>
            </a:solidFill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E7BC78C-C708-4B5F-9335-3355BB578BB8}"/>
              </a:ext>
            </a:extLst>
          </p:cNvPr>
          <p:cNvSpPr>
            <a:spLocks noGrp="1"/>
          </p:cNvSpPr>
          <p:nvPr/>
        </p:nvSpPr>
        <p:spPr>
          <a:xfrm>
            <a:off x="514350" y="5391150"/>
            <a:ext cx="10953750" cy="552450"/>
          </a:xfrm>
          <a:prstGeom prst="roundRect">
            <a:avLst>
              <a:gd name="adj" fmla="val 13793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18D63C-8EE5-4996-BEBD-997A6A6C39AD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暗场主要提高“看见”的概率；后续算法可改善定位，但不会自动改变物镜的衍射分辨率。</a:t>
            </a:r>
          </a:p>
        </p:txBody>
      </p:sp>
    </p:spTree>
    <p:extLst>
      <p:ext uri="{BB962C8B-B14F-4D97-AF65-F5344CB8AC3E}">
        <p14:creationId xmlns:p14="http://schemas.microsoft.com/office/powerpoint/2010/main" val="2059425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000A2527-11B6-4495-8092-A7ECF916AE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3D23A0-B010-4FFD-AC6F-8BF394C67A3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03 演化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C2C362-8DF9-490C-94E9-8D19FE58F06C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技术演化不是换名字，而是逐个压低背景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29575B8-CD01-412E-B484-C63DCC214E99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93EBE4-3C24-487C-AB88-2F3BB0F38FB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686F7130-2519-4D09-9A7B-3A15CB90168F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9810750" cy="0"/>
          </a:xfrm>
          <a:prstGeom prst="line">
            <a:avLst/>
          </a:prstGeom>
          <a:noFill/>
          <a:ln w="76200">
            <a:solidFill>
              <a:srgbClr val="CBDCE5"/>
            </a:solidFill>
            <a:prstDash val="solid"/>
          </a:ln>
        </p:spPr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171B009-FB6C-4DF4-9C20-AD8A603356FC}"/>
              </a:ext>
            </a:extLst>
          </p:cNvPr>
          <p:cNvSpPr>
            <a:spLocks noGrp="1"/>
          </p:cNvSpPr>
          <p:nvPr/>
        </p:nvSpPr>
        <p:spPr>
          <a:xfrm>
            <a:off x="1143000" y="2981325"/>
            <a:ext cx="590550" cy="590550"/>
          </a:xfrm>
          <a:prstGeom prst="ellipse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9794AC-8221-48F4-A514-733C31AACCB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34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1902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BDEA74-24A5-4F9A-830D-0FAFC4B2AE6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侧向超显微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E74BFE-26EC-4795-A6AF-8BAEF35F8AA4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2114550" cy="142875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B0CB8A8-9B54-49C3-8558-BBBB4E5FDE54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0BD733-4114-47A7-B7A7-5E75875C0931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瓶颈：直射光太强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E220F4-6F0C-4D80-BA72-849A66AECAFD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照明与观察方向分离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2465F4D-2CCF-4FF8-B7B2-17893555F919}"/>
              </a:ext>
            </a:extLst>
          </p:cNvPr>
          <p:cNvSpPr>
            <a:spLocks noGrp="1"/>
          </p:cNvSpPr>
          <p:nvPr/>
        </p:nvSpPr>
        <p:spPr>
          <a:xfrm>
            <a:off x="3924300" y="2981325"/>
            <a:ext cx="590550" cy="59055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F4227A-E4DE-4CC2-B309-2CD33E7713B1}"/>
              </a:ext>
            </a:extLst>
          </p:cNvPr>
          <p:cNvSpPr>
            <a:spLocks noGrp="1"/>
          </p:cNvSpPr>
          <p:nvPr/>
        </p:nvSpPr>
        <p:spPr>
          <a:xfrm>
            <a:off x="3467100" y="18669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34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环形聚光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BC2ADD-A14F-462C-8A37-6DA00A496206}"/>
              </a:ext>
            </a:extLst>
          </p:cNvPr>
          <p:cNvSpPr>
            <a:spLocks noGrp="1"/>
          </p:cNvSpPr>
          <p:nvPr/>
        </p:nvSpPr>
        <p:spPr>
          <a:xfrm>
            <a:off x="3467100" y="22669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透射暗场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A0E2997-B279-4071-992A-493BFCC4C6A1}"/>
              </a:ext>
            </a:extLst>
          </p:cNvPr>
          <p:cNvSpPr>
            <a:spLocks noGrp="1"/>
          </p:cNvSpPr>
          <p:nvPr/>
        </p:nvSpPr>
        <p:spPr>
          <a:xfrm>
            <a:off x="3448050" y="3733800"/>
            <a:ext cx="2114550" cy="142875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7B7BC6E-24D9-4EC5-A099-FF12686317DF}"/>
              </a:ext>
            </a:extLst>
          </p:cNvPr>
          <p:cNvSpPr>
            <a:spLocks noGrp="1"/>
          </p:cNvSpPr>
          <p:nvPr/>
        </p:nvSpPr>
        <p:spPr>
          <a:xfrm>
            <a:off x="3448050" y="373380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FDB99C-C86F-4437-8DB1-427A32A19E33}"/>
              </a:ext>
            </a:extLst>
          </p:cNvPr>
          <p:cNvSpPr>
            <a:spLocks noGrp="1"/>
          </p:cNvSpPr>
          <p:nvPr/>
        </p:nvSpPr>
        <p:spPr>
          <a:xfrm>
            <a:off x="3676650" y="3829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瓶颈：视场与对中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0ABB11-0666-4120-8075-4037D81C4934}"/>
              </a:ext>
            </a:extLst>
          </p:cNvPr>
          <p:cNvSpPr>
            <a:spLocks noGrp="1"/>
          </p:cNvSpPr>
          <p:nvPr/>
        </p:nvSpPr>
        <p:spPr>
          <a:xfrm>
            <a:off x="3676650" y="4152900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把高角照明整合进显微镜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F8803F9-7268-4D4B-9004-9A3C541F3B7F}"/>
              </a:ext>
            </a:extLst>
          </p:cNvPr>
          <p:cNvSpPr>
            <a:spLocks noGrp="1"/>
          </p:cNvSpPr>
          <p:nvPr/>
        </p:nvSpPr>
        <p:spPr>
          <a:xfrm>
            <a:off x="6705600" y="2981325"/>
            <a:ext cx="590550" cy="59055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C8C52F-5856-493C-90A4-7459870358D6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34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TIR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335D366-AE9C-42A5-AF62-6F5EF4A13ED4}"/>
              </a:ext>
            </a:extLst>
          </p:cNvPr>
          <p:cNvSpPr>
            <a:spLocks noGrp="1"/>
          </p:cNvSpPr>
          <p:nvPr/>
        </p:nvSpPr>
        <p:spPr>
          <a:xfrm>
            <a:off x="6248400" y="22669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界面暗场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976B55B-1B82-46D7-AB63-4C22C110EBE7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2114550" cy="142875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B8699AE-FA7A-4C95-9299-F42E0617D650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A4A336-869C-471C-AC4E-85773693BD0F}"/>
              </a:ext>
            </a:extLst>
          </p:cNvPr>
          <p:cNvSpPr>
            <a:spLocks noGrp="1"/>
          </p:cNvSpPr>
          <p:nvPr/>
        </p:nvSpPr>
        <p:spPr>
          <a:xfrm>
            <a:off x="6457950" y="3829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瓶颈：体相背景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7B1A4C-8D5C-4FEF-A57F-77B51FF4EA7A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只照亮界面附近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BB8BAA0-206D-4613-A1E1-2356A2D42BA0}"/>
              </a:ext>
            </a:extLst>
          </p:cNvPr>
          <p:cNvSpPr>
            <a:spLocks noGrp="1"/>
          </p:cNvSpPr>
          <p:nvPr/>
        </p:nvSpPr>
        <p:spPr>
          <a:xfrm>
            <a:off x="9486900" y="2981325"/>
            <a:ext cx="590550" cy="59055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7883BAE-BADA-4E0E-8D69-3F4F72ED9779}"/>
              </a:ext>
            </a:extLst>
          </p:cNvPr>
          <p:cNvSpPr>
            <a:spLocks noGrp="1"/>
          </p:cNvSpPr>
          <p:nvPr/>
        </p:nvSpPr>
        <p:spPr>
          <a:xfrm>
            <a:off x="9029700" y="18669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34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高光谱 / 计算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8582DA-0C76-4BB4-901B-8A76B3BD3952}"/>
              </a:ext>
            </a:extLst>
          </p:cNvPr>
          <p:cNvSpPr>
            <a:spLocks noGrp="1"/>
          </p:cNvSpPr>
          <p:nvPr/>
        </p:nvSpPr>
        <p:spPr>
          <a:xfrm>
            <a:off x="9029700" y="22669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定量暗场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9460214-3CFD-4D56-8DC1-63C4C5CF088F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114550" cy="142875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742AC25-A740-47F5-A540-4D4C70B54DA7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0D77EF-0850-4AF0-B34C-7A66D5D01405}"/>
              </a:ext>
            </a:extLst>
          </p:cNvPr>
          <p:cNvSpPr>
            <a:spLocks noGrp="1"/>
          </p:cNvSpPr>
          <p:nvPr/>
        </p:nvSpPr>
        <p:spPr>
          <a:xfrm>
            <a:off x="9239250" y="3829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瓶颈：亮点缺少身份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A466685-55D2-4F4B-BC0C-51AEF6948B8A}"/>
              </a:ext>
            </a:extLst>
          </p:cNvPr>
          <p:cNvSpPr>
            <a:spLocks noGrp="1"/>
          </p:cNvSpPr>
          <p:nvPr/>
        </p:nvSpPr>
        <p:spPr>
          <a:xfrm>
            <a:off x="9239250" y="4152900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用光谱、轨迹和模型赋值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11897AD-8E06-4891-91BA-BC8FC539DF76}"/>
              </a:ext>
            </a:extLst>
          </p:cNvPr>
          <p:cNvSpPr>
            <a:spLocks noGrp="1"/>
          </p:cNvSpPr>
          <p:nvPr/>
        </p:nvSpPr>
        <p:spPr>
          <a:xfrm>
            <a:off x="2571750" y="5524500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主线：背景来源改变 → 光路策略改变 → 可测量指标改变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56CD7E2-B52D-4A12-97B2-08DFF654CE2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历史起点：Siedentopf &amp; Zsigmondy 1902；现代路线：Priest et al. 2021</a:t>
            </a:r>
          </a:p>
        </p:txBody>
      </p:sp>
    </p:spTree>
    <p:extLst>
      <p:ext uri="{BB962C8B-B14F-4D97-AF65-F5344CB8AC3E}">
        <p14:creationId xmlns:p14="http://schemas.microsoft.com/office/powerpoint/2010/main" val="199455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367061E-AED9-4A7B-BBB9-ADD9681773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0B24DF-BA6C-442E-9E6C-057129EAD41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E5A429-454A-453A-B175-94AF133C0C81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1｜无标记流感病毒：亮点计数 → 浓度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BCE0AC0-A2C3-47CD-B616-622EB7B3262E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A4F910-FA16-48BE-B5F7-A300B63080A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7365" y="1504950"/>
            <a:ext cx="5463369" cy="40005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48844862-0AE1-41AB-8FD6-4266470BE2BF}"/>
              </a:ext>
            </a:extLst>
          </p:cNvPr>
          <p:cNvSpPr>
            <a:spLocks noGrp="1"/>
          </p:cNvSpPr>
          <p:nvPr/>
        </p:nvSpPr>
        <p:spPr>
          <a:xfrm>
            <a:off x="7524750" y="1657350"/>
            <a:ext cx="37147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79B7E6-B305-4AD8-BBD5-D9CEC94666A1}"/>
              </a:ext>
            </a:extLst>
          </p:cNvPr>
          <p:cNvSpPr>
            <a:spLocks noGrp="1"/>
          </p:cNvSpPr>
          <p:nvPr/>
        </p:nvSpPr>
        <p:spPr>
          <a:xfrm>
            <a:off x="7524750" y="16573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E714D1-D82A-46E0-A025-D355E0A7974F}"/>
              </a:ext>
            </a:extLst>
          </p:cNvPr>
          <p:cNvSpPr>
            <a:spLocks noGrp="1"/>
          </p:cNvSpPr>
          <p:nvPr/>
        </p:nvSpPr>
        <p:spPr>
          <a:xfrm>
            <a:off x="7753350" y="1752600"/>
            <a:ext cx="3314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C5F998-8F84-4201-BDC4-D1E612BE0532}"/>
              </a:ext>
            </a:extLst>
          </p:cNvPr>
          <p:cNvSpPr>
            <a:spLocks noGrp="1"/>
          </p:cNvSpPr>
          <p:nvPr/>
        </p:nvSpPr>
        <p:spPr>
          <a:xfrm>
            <a:off x="7753350" y="2076450"/>
            <a:ext cx="33147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约 100 nm 流感病毒颗粒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5DAF59-E60D-4C95-B5C1-2FF558141FAB}"/>
              </a:ext>
            </a:extLst>
          </p:cNvPr>
          <p:cNvSpPr>
            <a:spLocks noGrp="1"/>
          </p:cNvSpPr>
          <p:nvPr/>
        </p:nvSpPr>
        <p:spPr>
          <a:xfrm>
            <a:off x="7524750" y="2819400"/>
            <a:ext cx="37147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1205D9-73BA-437D-A8EA-3191EF97D61C}"/>
              </a:ext>
            </a:extLst>
          </p:cNvPr>
          <p:cNvSpPr>
            <a:spLocks noGrp="1"/>
          </p:cNvSpPr>
          <p:nvPr/>
        </p:nvSpPr>
        <p:spPr>
          <a:xfrm>
            <a:off x="7524750" y="281940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1C2752-2DC4-4D2B-994F-6F636BA3767D}"/>
              </a:ext>
            </a:extLst>
          </p:cNvPr>
          <p:cNvSpPr>
            <a:spLocks noGrp="1"/>
          </p:cNvSpPr>
          <p:nvPr/>
        </p:nvSpPr>
        <p:spPr>
          <a:xfrm>
            <a:off x="7753350" y="2914650"/>
            <a:ext cx="3314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B7BEAA-447C-4D01-B717-43E5F77D579C}"/>
              </a:ext>
            </a:extLst>
          </p:cNvPr>
          <p:cNvSpPr>
            <a:spLocks noGrp="1"/>
          </p:cNvSpPr>
          <p:nvPr/>
        </p:nvSpPr>
        <p:spPr>
          <a:xfrm>
            <a:off x="7753350" y="3238500"/>
            <a:ext cx="33147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物镜型 TIR 暗场，压低体相背景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62A4E62-C8C6-47E1-A89A-1BB6C749D16F}"/>
              </a:ext>
            </a:extLst>
          </p:cNvPr>
          <p:cNvSpPr>
            <a:spLocks noGrp="1"/>
          </p:cNvSpPr>
          <p:nvPr/>
        </p:nvSpPr>
        <p:spPr>
          <a:xfrm>
            <a:off x="7524750" y="3981450"/>
            <a:ext cx="37147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A3A87C8-4B5B-4D43-8A31-1BBE002543CC}"/>
              </a:ext>
            </a:extLst>
          </p:cNvPr>
          <p:cNvSpPr>
            <a:spLocks noGrp="1"/>
          </p:cNvSpPr>
          <p:nvPr/>
        </p:nvSpPr>
        <p:spPr>
          <a:xfrm>
            <a:off x="7524750" y="39814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EF8BF0-86E8-49FC-9998-66D4CC3E7C58}"/>
              </a:ext>
            </a:extLst>
          </p:cNvPr>
          <p:cNvSpPr>
            <a:spLocks noGrp="1"/>
          </p:cNvSpPr>
          <p:nvPr/>
        </p:nvSpPr>
        <p:spPr>
          <a:xfrm>
            <a:off x="7753350" y="4076700"/>
            <a:ext cx="3314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论文数据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5763E4-2EA6-4846-A668-56C119C32904}"/>
              </a:ext>
            </a:extLst>
          </p:cNvPr>
          <p:cNvSpPr>
            <a:spLocks noGrp="1"/>
          </p:cNvSpPr>
          <p:nvPr/>
        </p:nvSpPr>
        <p:spPr>
          <a:xfrm>
            <a:off x="7753350" y="4400550"/>
            <a:ext cx="33147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报告检出限 1.2 × 10⁴ PFU/mL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01DE60-4C1D-4AED-83C2-999F1DCFE8CE}"/>
              </a:ext>
            </a:extLst>
          </p:cNvPr>
          <p:cNvSpPr>
            <a:spLocks noGrp="1"/>
          </p:cNvSpPr>
          <p:nvPr/>
        </p:nvSpPr>
        <p:spPr>
          <a:xfrm>
            <a:off x="7524750" y="51816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注意：PFU/mL 表示感染性滴度；亮点数不应简单等同于病毒总颗粒数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23DF37-5BEC-4C85-AC19-A7CA85783FAE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Enoki et al., PLOS ONE 7(11):e49208 (2012), CC BY；doi:10.1371/journal.pone.0049208</a:t>
            </a:r>
          </a:p>
        </p:txBody>
      </p:sp>
    </p:spTree>
    <p:extLst>
      <p:ext uri="{BB962C8B-B14F-4D97-AF65-F5344CB8AC3E}">
        <p14:creationId xmlns:p14="http://schemas.microsoft.com/office/powerpoint/2010/main" val="102915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A0A6FFB-87CD-41D7-9950-6C5A0642D4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F25739-752C-41DC-8726-6FEC29B72C3B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FD65A7-5BFF-4E1E-9E2B-BF3DEC7AF800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2｜单颗粒追踪：暗场亮点 → 纳米轨迹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310A2DB-11BC-4875-A5A0-B0FA27D9EE3B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D4183B-6F84-4E50-8973-A9ACA85044F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581883"/>
            <a:ext cx="5905500" cy="317988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05600" y="1604596"/>
            <a:ext cx="4762500" cy="2601058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228014-786E-4262-862F-ADA94F59AA4B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1295400" cy="266700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AA320F-2225-4108-AAB4-D6AA3AB6583E}"/>
              </a:ext>
            </a:extLst>
          </p:cNvPr>
          <p:cNvSpPr>
            <a:spLocks noGrp="1"/>
          </p:cNvSpPr>
          <p:nvPr/>
        </p:nvSpPr>
        <p:spPr>
          <a:xfrm>
            <a:off x="952500" y="492442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 nm AuNPs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6C188B5-CC02-49B8-88E8-18B2FE459C8B}"/>
              </a:ext>
            </a:extLst>
          </p:cNvPr>
          <p:cNvSpPr>
            <a:spLocks noGrp="1"/>
          </p:cNvSpPr>
          <p:nvPr/>
        </p:nvSpPr>
        <p:spPr>
          <a:xfrm>
            <a:off x="2343150" y="4914900"/>
            <a:ext cx="1371600" cy="266700"/>
          </a:xfrm>
          <a:prstGeom prst="roundRect">
            <a:avLst>
              <a:gd name="adj" fmla="val 28571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C20865-C845-4492-BE64-D8D65CC62687}"/>
              </a:ext>
            </a:extLst>
          </p:cNvPr>
          <p:cNvSpPr>
            <a:spLocks noGrp="1"/>
          </p:cNvSpPr>
          <p:nvPr/>
        </p:nvSpPr>
        <p:spPr>
          <a:xfrm>
            <a:off x="2419350" y="4924425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μs exposure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CC582CE-A5C4-43FD-9497-90AF5A55B71E}"/>
              </a:ext>
            </a:extLst>
          </p:cNvPr>
          <p:cNvSpPr>
            <a:spLocks noGrp="1"/>
          </p:cNvSpPr>
          <p:nvPr/>
        </p:nvSpPr>
        <p:spPr>
          <a:xfrm>
            <a:off x="3886200" y="4914900"/>
            <a:ext cx="1905000" cy="266700"/>
          </a:xfrm>
          <a:prstGeom prst="roundRect">
            <a:avLst>
              <a:gd name="adj" fmla="val 28571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9582E4-3E28-427D-840F-3AF42178692A}"/>
              </a:ext>
            </a:extLst>
          </p:cNvPr>
          <p:cNvSpPr>
            <a:spLocks noGrp="1"/>
          </p:cNvSpPr>
          <p:nvPr/>
        </p:nvSpPr>
        <p:spPr>
          <a:xfrm>
            <a:off x="3962400" y="4924425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~4 nm 定位分布直径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4E9997-8EF8-4D9B-9257-16EDBBF706B4}"/>
              </a:ext>
            </a:extLst>
          </p:cNvPr>
          <p:cNvSpPr>
            <a:spLocks noGrp="1"/>
          </p:cNvSpPr>
          <p:nvPr/>
        </p:nvSpPr>
        <p:spPr>
          <a:xfrm>
            <a:off x="6705600" y="4552950"/>
            <a:ext cx="45529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这些数值是在特定光功率、曝光与拟合条件下得到的；“4 nm”是定位分布，不是成像分辨率。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B820ED-22F6-46C1-AC1E-AC32B91C97B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Meng et al., ACS Photonics 8, 3111–3118 (2021), Figs. 1–2；doi:10.1021/acsphotonics.1c01268</a:t>
            </a:r>
          </a:p>
        </p:txBody>
      </p:sp>
    </p:spTree>
    <p:extLst>
      <p:ext uri="{BB962C8B-B14F-4D97-AF65-F5344CB8AC3E}">
        <p14:creationId xmlns:p14="http://schemas.microsoft.com/office/powerpoint/2010/main" val="1309026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A7AF2C3-0B78-4966-B996-4585FDB97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453036-3F51-4B12-ACE9-BE5E69B3BE0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1777D7-39F8-45DE-A1FE-AC357BC6ABA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3｜高光谱暗场：从“亮不亮”到“散射谱是什么”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EC84DD3-8BA6-4A05-9E3F-F9F19D096F33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69E81F-DBB5-45B6-ADE3-C32D44B2EB4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1154" y="1543050"/>
            <a:ext cx="6939643" cy="40005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A9D7D2B3-3A3F-47A3-B09F-B0FB12006441}"/>
              </a:ext>
            </a:extLst>
          </p:cNvPr>
          <p:cNvSpPr>
            <a:spLocks noGrp="1"/>
          </p:cNvSpPr>
          <p:nvPr/>
        </p:nvSpPr>
        <p:spPr>
          <a:xfrm>
            <a:off x="7848600" y="1619250"/>
            <a:ext cx="32956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C9A70C3-45E6-4952-9AFA-2C438FCFA349}"/>
              </a:ext>
            </a:extLst>
          </p:cNvPr>
          <p:cNvSpPr>
            <a:spLocks noGrp="1"/>
          </p:cNvSpPr>
          <p:nvPr/>
        </p:nvSpPr>
        <p:spPr>
          <a:xfrm>
            <a:off x="7848600" y="16192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566795-B430-4656-9D62-1D4E59397538}"/>
              </a:ext>
            </a:extLst>
          </p:cNvPr>
          <p:cNvSpPr>
            <a:spLocks noGrp="1"/>
          </p:cNvSpPr>
          <p:nvPr/>
        </p:nvSpPr>
        <p:spPr>
          <a:xfrm>
            <a:off x="8077200" y="171450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空间图像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84C7B0-EECD-464B-91FD-9B75B1D0B351}"/>
              </a:ext>
            </a:extLst>
          </p:cNvPr>
          <p:cNvSpPr>
            <a:spLocks noGrp="1"/>
          </p:cNvSpPr>
          <p:nvPr/>
        </p:nvSpPr>
        <p:spPr>
          <a:xfrm>
            <a:off x="8077200" y="2038350"/>
            <a:ext cx="2895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定位颗粒或细胞区域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9B3A6A-F6D2-4464-8D36-6AE317244E3E}"/>
              </a:ext>
            </a:extLst>
          </p:cNvPr>
          <p:cNvSpPr>
            <a:spLocks noGrp="1"/>
          </p:cNvSpPr>
          <p:nvPr/>
        </p:nvSpPr>
        <p:spPr>
          <a:xfrm>
            <a:off x="7848600" y="2838450"/>
            <a:ext cx="32956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C27B30C-D973-48D9-8571-DF2A5125DD44}"/>
              </a:ext>
            </a:extLst>
          </p:cNvPr>
          <p:cNvSpPr>
            <a:spLocks noGrp="1"/>
          </p:cNvSpPr>
          <p:nvPr/>
        </p:nvSpPr>
        <p:spPr>
          <a:xfrm>
            <a:off x="7848600" y="28384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00495-6A02-4251-A0E1-8A5B800E278D}"/>
              </a:ext>
            </a:extLst>
          </p:cNvPr>
          <p:cNvSpPr>
            <a:spLocks noGrp="1"/>
          </p:cNvSpPr>
          <p:nvPr/>
        </p:nvSpPr>
        <p:spPr>
          <a:xfrm>
            <a:off x="8077200" y="293370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光谱维度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EA8B50-F100-44BE-8D85-EF5C275B81B8}"/>
              </a:ext>
            </a:extLst>
          </p:cNvPr>
          <p:cNvSpPr>
            <a:spLocks noGrp="1"/>
          </p:cNvSpPr>
          <p:nvPr/>
        </p:nvSpPr>
        <p:spPr>
          <a:xfrm>
            <a:off x="8077200" y="3257550"/>
            <a:ext cx="2895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读取每个像素的散射谱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51CC35B-DF5C-4309-8CB6-F111B2606391}"/>
              </a:ext>
            </a:extLst>
          </p:cNvPr>
          <p:cNvSpPr>
            <a:spLocks noGrp="1"/>
          </p:cNvSpPr>
          <p:nvPr/>
        </p:nvSpPr>
        <p:spPr>
          <a:xfrm>
            <a:off x="7848600" y="4057650"/>
            <a:ext cx="32956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3C63F0D-DE70-4020-9D13-472237C16499}"/>
              </a:ext>
            </a:extLst>
          </p:cNvPr>
          <p:cNvSpPr>
            <a:spLocks noGrp="1"/>
          </p:cNvSpPr>
          <p:nvPr/>
        </p:nvSpPr>
        <p:spPr>
          <a:xfrm>
            <a:off x="7848600" y="40576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4855A4-D3F8-4F77-B804-B2639D36B962}"/>
              </a:ext>
            </a:extLst>
          </p:cNvPr>
          <p:cNvSpPr>
            <a:spLocks noGrp="1"/>
          </p:cNvSpPr>
          <p:nvPr/>
        </p:nvSpPr>
        <p:spPr>
          <a:xfrm>
            <a:off x="8077200" y="415290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模型/标定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150119-9E82-4078-97DD-FC803C1C45AA}"/>
              </a:ext>
            </a:extLst>
          </p:cNvPr>
          <p:cNvSpPr>
            <a:spLocks noGrp="1"/>
          </p:cNvSpPr>
          <p:nvPr/>
        </p:nvSpPr>
        <p:spPr>
          <a:xfrm>
            <a:off x="8077200" y="4476750"/>
            <a:ext cx="2895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关联尺寸、聚集与环境变化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E2FB12-FE05-433F-AEDD-15D7925AE88D}"/>
              </a:ext>
            </a:extLst>
          </p:cNvPr>
          <p:cNvSpPr>
            <a:spLocks noGrp="1"/>
          </p:cNvSpPr>
          <p:nvPr/>
        </p:nvSpPr>
        <p:spPr>
          <a:xfrm>
            <a:off x="7848600" y="5429250"/>
            <a:ext cx="3295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测到的是“系统响应过滤后的相对散射谱”，定量前要校正灯谱、暗计数与基底。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BEB89B-D377-4998-9B1F-D274D8116E6E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Zamora-Perez et al., Materials 11, 243 (2018), CC BY；doi:10.3390/ma11020243</a:t>
            </a:r>
          </a:p>
        </p:txBody>
      </p:sp>
    </p:spTree>
    <p:extLst>
      <p:ext uri="{BB962C8B-B14F-4D97-AF65-F5344CB8AC3E}">
        <p14:creationId xmlns:p14="http://schemas.microsoft.com/office/powerpoint/2010/main" val="149408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E19EB19-3DE5-48FE-B688-112C1324AB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A3B866-03B9-412D-B31C-64920853147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253B2-E8C8-494B-AB07-5D95808F6B25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4｜浅划痕检测：缺陷把斜入射光散射回来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E44AD2E-C996-4FCC-9E7E-C997D8CAE7B0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6F4EF3-1C63-4E9D-8CF6-0BBC6925E4E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222" y="1466850"/>
            <a:ext cx="3586655" cy="44577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E757AB6-8168-4F4C-BE0F-6E2B89AC9D2A}"/>
              </a:ext>
            </a:extLst>
          </p:cNvPr>
          <p:cNvSpPr>
            <a:spLocks noGrp="1"/>
          </p:cNvSpPr>
          <p:nvPr/>
        </p:nvSpPr>
        <p:spPr>
          <a:xfrm>
            <a:off x="5715000" y="1600200"/>
            <a:ext cx="5334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为什么适合缺陷分析？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0687272-BE42-4532-83A4-8AAAFE6E831B}"/>
              </a:ext>
            </a:extLst>
          </p:cNvPr>
          <p:cNvSpPr>
            <a:spLocks noGrp="1"/>
          </p:cNvSpPr>
          <p:nvPr/>
        </p:nvSpPr>
        <p:spPr>
          <a:xfrm>
            <a:off x="5715000" y="2209800"/>
            <a:ext cx="52959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9CB730D-EC90-4235-8588-6D277AC2C36F}"/>
              </a:ext>
            </a:extLst>
          </p:cNvPr>
          <p:cNvSpPr>
            <a:spLocks noGrp="1"/>
          </p:cNvSpPr>
          <p:nvPr/>
        </p:nvSpPr>
        <p:spPr>
          <a:xfrm>
            <a:off x="5715000" y="2209800"/>
            <a:ext cx="66675" cy="85725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CD04E5-F370-4D58-8987-F9F0810BDCAB}"/>
              </a:ext>
            </a:extLst>
          </p:cNvPr>
          <p:cNvSpPr>
            <a:spLocks noGrp="1"/>
          </p:cNvSpPr>
          <p:nvPr/>
        </p:nvSpPr>
        <p:spPr>
          <a:xfrm>
            <a:off x="5943600" y="2305050"/>
            <a:ext cx="4895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9BE0BF-E646-43A1-BDBE-C1474E66EC0B}"/>
              </a:ext>
            </a:extLst>
          </p:cNvPr>
          <p:cNvSpPr>
            <a:spLocks noGrp="1"/>
          </p:cNvSpPr>
          <p:nvPr/>
        </p:nvSpPr>
        <p:spPr>
          <a:xfrm>
            <a:off x="5943600" y="2628900"/>
            <a:ext cx="489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完好镜面主要把光反射到物镜之外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465B5C4-A7E0-4FFF-9312-A31BB48317E3}"/>
              </a:ext>
            </a:extLst>
          </p:cNvPr>
          <p:cNvSpPr>
            <a:spLocks noGrp="1"/>
          </p:cNvSpPr>
          <p:nvPr/>
        </p:nvSpPr>
        <p:spPr>
          <a:xfrm>
            <a:off x="5715000" y="3219450"/>
            <a:ext cx="52959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BD9E84E-ACB5-483D-81D1-84326BB2B62B}"/>
              </a:ext>
            </a:extLst>
          </p:cNvPr>
          <p:cNvSpPr>
            <a:spLocks noGrp="1"/>
          </p:cNvSpPr>
          <p:nvPr/>
        </p:nvSpPr>
        <p:spPr>
          <a:xfrm>
            <a:off x="5715000" y="3219450"/>
            <a:ext cx="66675" cy="85725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20EC3E-207D-476C-8D76-478EAE25E058}"/>
              </a:ext>
            </a:extLst>
          </p:cNvPr>
          <p:cNvSpPr>
            <a:spLocks noGrp="1"/>
          </p:cNvSpPr>
          <p:nvPr/>
        </p:nvSpPr>
        <p:spPr>
          <a:xfrm>
            <a:off x="5943600" y="3314700"/>
            <a:ext cx="4895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缺陷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529FE2-0CA7-447B-81AD-4490A4C1D597}"/>
              </a:ext>
            </a:extLst>
          </p:cNvPr>
          <p:cNvSpPr>
            <a:spLocks noGrp="1"/>
          </p:cNvSpPr>
          <p:nvPr/>
        </p:nvSpPr>
        <p:spPr>
          <a:xfrm>
            <a:off x="5943600" y="3638550"/>
            <a:ext cx="489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划痕边缘与粗糙区把光散射进相机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0CF73A-BCCA-4F03-9390-8B9A87787967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52959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DECC85B-53A5-4CCC-9C54-0C4D2ECB5A8C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66675" cy="85725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A7B5A-2122-4FBD-9113-BCC869FDB2E1}"/>
              </a:ext>
            </a:extLst>
          </p:cNvPr>
          <p:cNvSpPr>
            <a:spLocks noGrp="1"/>
          </p:cNvSpPr>
          <p:nvPr/>
        </p:nvSpPr>
        <p:spPr>
          <a:xfrm>
            <a:off x="5943600" y="4324350"/>
            <a:ext cx="4895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8C1A78-65C5-45A5-8C7B-E2EA39D47EEB}"/>
              </a:ext>
            </a:extLst>
          </p:cNvPr>
          <p:cNvSpPr>
            <a:spLocks noGrp="1"/>
          </p:cNvSpPr>
          <p:nvPr/>
        </p:nvSpPr>
        <p:spPr>
          <a:xfrm>
            <a:off x="5943600" y="4648200"/>
            <a:ext cx="489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自适应平滑 + 形态学差分分离浅划痕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320E749-81E1-4A04-B323-E3E42C76D581}"/>
              </a:ext>
            </a:extLst>
          </p:cNvPr>
          <p:cNvSpPr>
            <a:spLocks noGrp="1"/>
          </p:cNvSpPr>
          <p:nvPr/>
        </p:nvSpPr>
        <p:spPr>
          <a:xfrm>
            <a:off x="5715000" y="5276850"/>
            <a:ext cx="5295900" cy="542925"/>
          </a:xfrm>
          <a:prstGeom prst="roundRect">
            <a:avLst>
              <a:gd name="adj" fmla="val 14035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A96A3A-5373-4DFB-BF2C-6DEEEC9CBA3C}"/>
              </a:ext>
            </a:extLst>
          </p:cNvPr>
          <p:cNvSpPr>
            <a:spLocks noGrp="1"/>
          </p:cNvSpPr>
          <p:nvPr/>
        </p:nvSpPr>
        <p:spPr>
          <a:xfrm>
            <a:off x="5905500" y="5353050"/>
            <a:ext cx="4914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论文实验：浅划痕检出率约 82%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CE16C-0D96-4A77-A63E-DAC6B34C76E5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Li et al., Chinese Optics Letters 15, 081202 (2017)；doi:10.3788/COL201715.081202</a:t>
            </a:r>
          </a:p>
        </p:txBody>
      </p:sp>
    </p:spTree>
    <p:extLst>
      <p:ext uri="{BB962C8B-B14F-4D97-AF65-F5344CB8AC3E}">
        <p14:creationId xmlns:p14="http://schemas.microsoft.com/office/powerpoint/2010/main" val="1599889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2224C049-B88E-4CA3-A38A-BBDBB1309F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606BAA-2A05-47E4-8B4A-F5B58F3AD86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选择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6FA20-BCBB-4480-9597-A2166D13CEC6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暗场不是万能：按问题选择相关技术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5DBEB8E-999E-47B2-98FD-9AE3CCA80E29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A8F9E6-70B5-4DDD-9D2C-4640114C88F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B85016-C5AA-4B84-A464-A33DC811CDB7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232410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FC0BC5-71E6-439E-B3D2-9D5DD4FEC49C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3EB15B-BD0F-4B6A-804E-608F3430B1BC}"/>
              </a:ext>
            </a:extLst>
          </p:cNvPr>
          <p:cNvSpPr>
            <a:spLocks noGrp="1"/>
          </p:cNvSpPr>
          <p:nvPr/>
        </p:nvSpPr>
        <p:spPr>
          <a:xfrm>
            <a:off x="3009900" y="1504950"/>
            <a:ext cx="232410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276742-C836-4DBC-ACA7-3335F99BD634}"/>
              </a:ext>
            </a:extLst>
          </p:cNvPr>
          <p:cNvSpPr>
            <a:spLocks noGrp="1"/>
          </p:cNvSpPr>
          <p:nvPr/>
        </p:nvSpPr>
        <p:spPr>
          <a:xfrm>
            <a:off x="3067050" y="1562100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最擅长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65C85C-2B36-445F-AACB-BA8ED321AC8C}"/>
              </a:ext>
            </a:extLst>
          </p:cNvPr>
          <p:cNvSpPr>
            <a:spLocks noGrp="1"/>
          </p:cNvSpPr>
          <p:nvPr/>
        </p:nvSpPr>
        <p:spPr>
          <a:xfrm>
            <a:off x="5505450" y="1504950"/>
            <a:ext cx="232410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4C786F-E2E6-41EE-B497-FDF4FFA55AA2}"/>
              </a:ext>
            </a:extLst>
          </p:cNvPr>
          <p:cNvSpPr>
            <a:spLocks noGrp="1"/>
          </p:cNvSpPr>
          <p:nvPr/>
        </p:nvSpPr>
        <p:spPr>
          <a:xfrm>
            <a:off x="5562600" y="1562100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主要代价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A8D02A-FC4A-4931-9B4F-6A6F431BEA44}"/>
              </a:ext>
            </a:extLst>
          </p:cNvPr>
          <p:cNvSpPr>
            <a:spLocks noGrp="1"/>
          </p:cNvSpPr>
          <p:nvPr/>
        </p:nvSpPr>
        <p:spPr>
          <a:xfrm>
            <a:off x="8001000" y="1504950"/>
            <a:ext cx="232410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4E2DAC-786E-4A87-97AF-825389CBE7DE}"/>
              </a:ext>
            </a:extLst>
          </p:cNvPr>
          <p:cNvSpPr>
            <a:spLocks noGrp="1"/>
          </p:cNvSpPr>
          <p:nvPr/>
        </p:nvSpPr>
        <p:spPr>
          <a:xfrm>
            <a:off x="8058150" y="1562100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适合回答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A3001-02B6-477E-BED4-BDD7CD528F1A}"/>
              </a:ext>
            </a:extLst>
          </p:cNvPr>
          <p:cNvSpPr>
            <a:spLocks noGrp="1"/>
          </p:cNvSpPr>
          <p:nvPr/>
        </p:nvSpPr>
        <p:spPr>
          <a:xfrm>
            <a:off x="10496550" y="1504950"/>
            <a:ext cx="97155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0F0932-E189-4367-8F82-4D3D6930C8A5}"/>
              </a:ext>
            </a:extLst>
          </p:cNvPr>
          <p:cNvSpPr>
            <a:spLocks noGrp="1"/>
          </p:cNvSpPr>
          <p:nvPr/>
        </p:nvSpPr>
        <p:spPr>
          <a:xfrm>
            <a:off x="10553700" y="1562100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417"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与暗场关系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E3FCB8-2CF0-4205-99F1-28DD63F9F569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D1ABD9-EAF8-421F-9891-DFF956BCED99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29A36F-B230-4716-9329-E00B4BA82DF7}"/>
              </a:ext>
            </a:extLst>
          </p:cNvPr>
          <p:cNvSpPr>
            <a:spLocks noGrp="1"/>
          </p:cNvSpPr>
          <p:nvPr/>
        </p:nvSpPr>
        <p:spPr>
          <a:xfrm>
            <a:off x="3009900" y="19621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51D84E-95A2-4F08-9F70-7197EF04FEBF}"/>
              </a:ext>
            </a:extLst>
          </p:cNvPr>
          <p:cNvSpPr>
            <a:spLocks noGrp="1"/>
          </p:cNvSpPr>
          <p:nvPr/>
        </p:nvSpPr>
        <p:spPr>
          <a:xfrm>
            <a:off x="3086100" y="20383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弱散射可见度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FC738C-EDE4-4004-AC01-6A2A9BDF6993}"/>
              </a:ext>
            </a:extLst>
          </p:cNvPr>
          <p:cNvSpPr>
            <a:spLocks noGrp="1"/>
          </p:cNvSpPr>
          <p:nvPr/>
        </p:nvSpPr>
        <p:spPr>
          <a:xfrm>
            <a:off x="5505450" y="19621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BAB68D-E522-4091-A5C4-7AF38356E430}"/>
              </a:ext>
            </a:extLst>
          </p:cNvPr>
          <p:cNvSpPr>
            <a:spLocks noGrp="1"/>
          </p:cNvSpPr>
          <p:nvPr/>
        </p:nvSpPr>
        <p:spPr>
          <a:xfrm>
            <a:off x="5581650" y="20383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缺少化学特异性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1E1401-49F1-4D5E-B5D7-B20C9E0ADE66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44AA53-05ED-4324-88B0-32DD29E994AB}"/>
              </a:ext>
            </a:extLst>
          </p:cNvPr>
          <p:cNvSpPr>
            <a:spLocks noGrp="1"/>
          </p:cNvSpPr>
          <p:nvPr/>
        </p:nvSpPr>
        <p:spPr>
          <a:xfrm>
            <a:off x="8077200" y="20383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有没有颗粒/缺陷？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83142C5-4BFD-497D-9DB5-6983298474A4}"/>
              </a:ext>
            </a:extLst>
          </p:cNvPr>
          <p:cNvSpPr>
            <a:spLocks noGrp="1"/>
          </p:cNvSpPr>
          <p:nvPr/>
        </p:nvSpPr>
        <p:spPr>
          <a:xfrm>
            <a:off x="10496550" y="1962150"/>
            <a:ext cx="97155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FA6D3CE-BDDE-44A1-917C-39FFFD1D0687}"/>
              </a:ext>
            </a:extLst>
          </p:cNvPr>
          <p:cNvSpPr>
            <a:spLocks noGrp="1"/>
          </p:cNvSpPr>
          <p:nvPr/>
        </p:nvSpPr>
        <p:spPr>
          <a:xfrm>
            <a:off x="10572750" y="2038350"/>
            <a:ext cx="819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基线方案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C8C6AC-59A9-4D07-89D2-0ED952A4A2FA}"/>
              </a:ext>
            </a:extLst>
          </p:cNvPr>
          <p:cNvSpPr>
            <a:spLocks noGrp="1"/>
          </p:cNvSpPr>
          <p:nvPr/>
        </p:nvSpPr>
        <p:spPr>
          <a:xfrm>
            <a:off x="514350" y="28575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0A42DF-ED03-4C4F-A79E-22FD1CFD3A6B}"/>
              </a:ext>
            </a:extLst>
          </p:cNvPr>
          <p:cNvSpPr>
            <a:spLocks noGrp="1"/>
          </p:cNvSpPr>
          <p:nvPr/>
        </p:nvSpPr>
        <p:spPr>
          <a:xfrm>
            <a:off x="590550" y="29337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相差 / DIC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62C422-0812-412A-A6F3-4D01FDAEFFEB}"/>
              </a:ext>
            </a:extLst>
          </p:cNvPr>
          <p:cNvSpPr>
            <a:spLocks noGrp="1"/>
          </p:cNvSpPr>
          <p:nvPr/>
        </p:nvSpPr>
        <p:spPr>
          <a:xfrm>
            <a:off x="3009900" y="28575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41A89C4-B42A-4DA0-8177-A9F6D6B2EC19}"/>
              </a:ext>
            </a:extLst>
          </p:cNvPr>
          <p:cNvSpPr>
            <a:spLocks noGrp="1"/>
          </p:cNvSpPr>
          <p:nvPr/>
        </p:nvSpPr>
        <p:spPr>
          <a:xfrm>
            <a:off x="3086100" y="29337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透明相位结构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B0EEE7-1EC8-4388-B447-D61A78D0773F}"/>
              </a:ext>
            </a:extLst>
          </p:cNvPr>
          <p:cNvSpPr>
            <a:spLocks noGrp="1"/>
          </p:cNvSpPr>
          <p:nvPr/>
        </p:nvSpPr>
        <p:spPr>
          <a:xfrm>
            <a:off x="5505450" y="28575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FF44BC-5837-40DA-A856-92DE245CD8E0}"/>
              </a:ext>
            </a:extLst>
          </p:cNvPr>
          <p:cNvSpPr>
            <a:spLocks noGrp="1"/>
          </p:cNvSpPr>
          <p:nvPr/>
        </p:nvSpPr>
        <p:spPr>
          <a:xfrm>
            <a:off x="5581650" y="29337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定量解释复杂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0D5721-2465-4D72-9FB8-EBD61892BF7E}"/>
              </a:ext>
            </a:extLst>
          </p:cNvPr>
          <p:cNvSpPr>
            <a:spLocks noGrp="1"/>
          </p:cNvSpPr>
          <p:nvPr/>
        </p:nvSpPr>
        <p:spPr>
          <a:xfrm>
            <a:off x="8001000" y="28575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652996-E7BF-478A-B3C3-FA1638346FFD}"/>
              </a:ext>
            </a:extLst>
          </p:cNvPr>
          <p:cNvSpPr>
            <a:spLocks noGrp="1"/>
          </p:cNvSpPr>
          <p:nvPr/>
        </p:nvSpPr>
        <p:spPr>
          <a:xfrm>
            <a:off x="8077200" y="29337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细胞内部轮廓？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58F911B-1D50-4B07-920B-2A13893FBF68}"/>
              </a:ext>
            </a:extLst>
          </p:cNvPr>
          <p:cNvSpPr>
            <a:spLocks noGrp="1"/>
          </p:cNvSpPr>
          <p:nvPr/>
        </p:nvSpPr>
        <p:spPr>
          <a:xfrm>
            <a:off x="10496550" y="2857500"/>
            <a:ext cx="9715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AA9715A-5348-4A8C-94CE-1079BEDFFF0F}"/>
              </a:ext>
            </a:extLst>
          </p:cNvPr>
          <p:cNvSpPr>
            <a:spLocks noGrp="1"/>
          </p:cNvSpPr>
          <p:nvPr/>
        </p:nvSpPr>
        <p:spPr>
          <a:xfrm>
            <a:off x="10572750" y="2933700"/>
            <a:ext cx="819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互补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72172A-6BB4-4E7E-BD61-080DC91514D4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42AD86-CAFC-41DE-B7BE-A3768CBC89A1}"/>
              </a:ext>
            </a:extLst>
          </p:cNvPr>
          <p:cNvSpPr>
            <a:spLocks noGrp="1"/>
          </p:cNvSpPr>
          <p:nvPr/>
        </p:nvSpPr>
        <p:spPr>
          <a:xfrm>
            <a:off x="590550" y="38290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荧光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CE50EC-4820-4955-ABF2-97FFF8359E4D}"/>
              </a:ext>
            </a:extLst>
          </p:cNvPr>
          <p:cNvSpPr>
            <a:spLocks noGrp="1"/>
          </p:cNvSpPr>
          <p:nvPr/>
        </p:nvSpPr>
        <p:spPr>
          <a:xfrm>
            <a:off x="3009900" y="37528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0C055CA-BC47-4FCB-93DB-C746F2E425C6}"/>
              </a:ext>
            </a:extLst>
          </p:cNvPr>
          <p:cNvSpPr>
            <a:spLocks noGrp="1"/>
          </p:cNvSpPr>
          <p:nvPr/>
        </p:nvSpPr>
        <p:spPr>
          <a:xfrm>
            <a:off x="3086100" y="38290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分子特异性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47FE75-3F7D-4236-81B6-E9D97C605718}"/>
              </a:ext>
            </a:extLst>
          </p:cNvPr>
          <p:cNvSpPr>
            <a:spLocks noGrp="1"/>
          </p:cNvSpPr>
          <p:nvPr/>
        </p:nvSpPr>
        <p:spPr>
          <a:xfrm>
            <a:off x="5505450" y="37528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CC7485D-659D-41B2-8369-A91C51237EB9}"/>
              </a:ext>
            </a:extLst>
          </p:cNvPr>
          <p:cNvSpPr>
            <a:spLocks noGrp="1"/>
          </p:cNvSpPr>
          <p:nvPr/>
        </p:nvSpPr>
        <p:spPr>
          <a:xfrm>
            <a:off x="5581650" y="38290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标记与漂白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FBB0C07-EEB7-49B3-B1F5-6A5DA97E5881}"/>
              </a:ext>
            </a:extLst>
          </p:cNvPr>
          <p:cNvSpPr>
            <a:spLocks noGrp="1"/>
          </p:cNvSpPr>
          <p:nvPr/>
        </p:nvSpPr>
        <p:spPr>
          <a:xfrm>
            <a:off x="8001000" y="37528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4A204D1-A0CF-463C-B8A3-69D5D43854F3}"/>
              </a:ext>
            </a:extLst>
          </p:cNvPr>
          <p:cNvSpPr>
            <a:spLocks noGrp="1"/>
          </p:cNvSpPr>
          <p:nvPr/>
        </p:nvSpPr>
        <p:spPr>
          <a:xfrm>
            <a:off x="8077200" y="38290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它是谁？在哪里？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E45B117-55BE-43C6-A40F-3E2AFCB8B267}"/>
              </a:ext>
            </a:extLst>
          </p:cNvPr>
          <p:cNvSpPr>
            <a:spLocks noGrp="1"/>
          </p:cNvSpPr>
          <p:nvPr/>
        </p:nvSpPr>
        <p:spPr>
          <a:xfrm>
            <a:off x="10496550" y="3752850"/>
            <a:ext cx="97155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CB0D535-0B14-4548-9254-076C8A97A181}"/>
              </a:ext>
            </a:extLst>
          </p:cNvPr>
          <p:cNvSpPr>
            <a:spLocks noGrp="1"/>
          </p:cNvSpPr>
          <p:nvPr/>
        </p:nvSpPr>
        <p:spPr>
          <a:xfrm>
            <a:off x="10572750" y="3829050"/>
            <a:ext cx="819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验证身份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3E2E54D-8681-482F-9F95-77BDCA7550E8}"/>
              </a:ext>
            </a:extLst>
          </p:cNvPr>
          <p:cNvSpPr>
            <a:spLocks noGrp="1"/>
          </p:cNvSpPr>
          <p:nvPr/>
        </p:nvSpPr>
        <p:spPr>
          <a:xfrm>
            <a:off x="514350" y="46482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28CD42F-36B1-49F3-AFC3-EB691EB78A96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iSCAT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C1701B6-103D-4D8C-B3D0-53F4BB79D8A4}"/>
              </a:ext>
            </a:extLst>
          </p:cNvPr>
          <p:cNvSpPr>
            <a:spLocks noGrp="1"/>
          </p:cNvSpPr>
          <p:nvPr/>
        </p:nvSpPr>
        <p:spPr>
          <a:xfrm>
            <a:off x="3009900" y="46482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74EBB10-838E-4E9A-B871-BFC59FBD1C27}"/>
              </a:ext>
            </a:extLst>
          </p:cNvPr>
          <p:cNvSpPr>
            <a:spLocks noGrp="1"/>
          </p:cNvSpPr>
          <p:nvPr/>
        </p:nvSpPr>
        <p:spPr>
          <a:xfrm>
            <a:off x="3086100" y="47244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极弱散射灵敏度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BA85E65-F0B1-4697-A0B5-F365068FB607}"/>
              </a:ext>
            </a:extLst>
          </p:cNvPr>
          <p:cNvSpPr>
            <a:spLocks noGrp="1"/>
          </p:cNvSpPr>
          <p:nvPr/>
        </p:nvSpPr>
        <p:spPr>
          <a:xfrm>
            <a:off x="5505450" y="46482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11C93A9-15E8-43F3-88AB-33E18A6791BF}"/>
              </a:ext>
            </a:extLst>
          </p:cNvPr>
          <p:cNvSpPr>
            <a:spLocks noGrp="1"/>
          </p:cNvSpPr>
          <p:nvPr/>
        </p:nvSpPr>
        <p:spPr>
          <a:xfrm>
            <a:off x="5581650" y="47244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相位背景与条纹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C26994A-B433-4984-AC53-69090AF6A087}"/>
              </a:ext>
            </a:extLst>
          </p:cNvPr>
          <p:cNvSpPr>
            <a:spLocks noGrp="1"/>
          </p:cNvSpPr>
          <p:nvPr/>
        </p:nvSpPr>
        <p:spPr>
          <a:xfrm>
            <a:off x="8001000" y="46482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26BD242-EBD3-4C55-8959-939F71E8D1F7}"/>
              </a:ext>
            </a:extLst>
          </p:cNvPr>
          <p:cNvSpPr>
            <a:spLocks noGrp="1"/>
          </p:cNvSpPr>
          <p:nvPr/>
        </p:nvSpPr>
        <p:spPr>
          <a:xfrm>
            <a:off x="8077200" y="47244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更小颗粒/蛋白？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72CE242-8F69-4638-89DC-079983D4646E}"/>
              </a:ext>
            </a:extLst>
          </p:cNvPr>
          <p:cNvSpPr>
            <a:spLocks noGrp="1"/>
          </p:cNvSpPr>
          <p:nvPr/>
        </p:nvSpPr>
        <p:spPr>
          <a:xfrm>
            <a:off x="10496550" y="4648200"/>
            <a:ext cx="9715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0A732AE-F908-4457-B1DF-F172CBE760FA}"/>
              </a:ext>
            </a:extLst>
          </p:cNvPr>
          <p:cNvSpPr>
            <a:spLocks noGrp="1"/>
          </p:cNvSpPr>
          <p:nvPr/>
        </p:nvSpPr>
        <p:spPr>
          <a:xfrm>
            <a:off x="10572750" y="4724400"/>
            <a:ext cx="819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干涉增强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CDDFCE1-7BBB-4726-A18E-A6603634A93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技术框架参考：Priest et al., Chemical Reviews 2021</a:t>
            </a:r>
          </a:p>
        </p:txBody>
      </p:sp>
    </p:spTree>
    <p:extLst>
      <p:ext uri="{BB962C8B-B14F-4D97-AF65-F5344CB8AC3E}">
        <p14:creationId xmlns:p14="http://schemas.microsoft.com/office/powerpoint/2010/main" val="1268789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1EAE0B-FE5D-4033-9EA8-75F8EAFEBF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AC4D74-3042-4983-85D9-E2E8621994F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05 局限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E5B7B8-03DD-490C-852D-65D7B9F147FA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导致效果不明的可能性</a:t>
            </a:r>
            <a:endParaRPr sz="2550" b="1" dirty="0">
              <a:solidFill>
                <a:srgbClr val="17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C1724DE-FB82-4ABB-8640-15D11EC09006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F08750-1F48-4BF2-B48D-71E9925EE7F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49907F-E23F-46E5-BADF-565B24C63A68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2197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84B3EFB-8933-456D-8C9B-A10F4156F9C5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C95A5A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235DB4-395C-4A3A-B5B1-70EB05D3AD2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876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背景不黑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9CD146-1286-4B47-B445-2B1BF3F496FE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风险｜灰尘、指纹、盖玻片粗糙度都会散射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8CF1E7-F8E9-4710-AE7E-A3530678A019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控制｜清洁 + 空白视野 + 背景扣除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F5880A-5DBA-4E94-9035-2DCB373ED442}"/>
              </a:ext>
            </a:extLst>
          </p:cNvPr>
          <p:cNvSpPr>
            <a:spLocks noGrp="1"/>
          </p:cNvSpPr>
          <p:nvPr/>
        </p:nvSpPr>
        <p:spPr>
          <a:xfrm>
            <a:off x="6076950" y="1562100"/>
            <a:ext cx="52197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CD1AD05-C231-4E49-B029-3A1EAB5651A7}"/>
              </a:ext>
            </a:extLst>
          </p:cNvPr>
          <p:cNvSpPr>
            <a:spLocks noGrp="1"/>
          </p:cNvSpPr>
          <p:nvPr/>
        </p:nvSpPr>
        <p:spPr>
          <a:xfrm>
            <a:off x="6076950" y="15621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5BB630-B2AB-4CD5-BA10-48D261D783AB}"/>
              </a:ext>
            </a:extLst>
          </p:cNvPr>
          <p:cNvSpPr>
            <a:spLocks noGrp="1"/>
          </p:cNvSpPr>
          <p:nvPr/>
        </p:nvSpPr>
        <p:spPr>
          <a:xfrm>
            <a:off x="6248400" y="1619250"/>
            <a:ext cx="4876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亮点不等于目标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FC3203-073C-4C9D-8C7A-15F6F6362E59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风险｜非特异颗粒与气泡同样会亮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B924E2-61C0-476A-B389-2BEF82EAD2CF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控制｜对照组 + 特异性验证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FF2565-34A1-451C-BE76-0962A193C08F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52197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392A80D-6163-48D9-829D-AD17870FDA00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65E461-E67A-4A31-977D-A46AC98A5C4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876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亮度不等于厚度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345931-65B2-4AE2-BBFB-81F1B8AF8E1B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风险｜强度受尺寸、材料、角度和焦面共同影响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DEF450-9F98-4F6B-8652-71EE760A7B35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控制｜标定曲线 + 固定几何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A573BFC-FF28-4F77-BDF8-8D076ADB0888}"/>
              </a:ext>
            </a:extLst>
          </p:cNvPr>
          <p:cNvSpPr>
            <a:spLocks noGrp="1"/>
          </p:cNvSpPr>
          <p:nvPr/>
        </p:nvSpPr>
        <p:spPr>
          <a:xfrm>
            <a:off x="6076950" y="3581400"/>
            <a:ext cx="52197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A107BC6-AF54-4B50-A569-10D9E7E10288}"/>
              </a:ext>
            </a:extLst>
          </p:cNvPr>
          <p:cNvSpPr>
            <a:spLocks noGrp="1"/>
          </p:cNvSpPr>
          <p:nvPr/>
        </p:nvSpPr>
        <p:spPr>
          <a:xfrm>
            <a:off x="6076950" y="35814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2E646E-A585-42C5-91FC-967FF269E5DF}"/>
              </a:ext>
            </a:extLst>
          </p:cNvPr>
          <p:cNvSpPr>
            <a:spLocks noGrp="1"/>
          </p:cNvSpPr>
          <p:nvPr/>
        </p:nvSpPr>
        <p:spPr>
          <a:xfrm>
            <a:off x="6248400" y="3638550"/>
            <a:ext cx="4876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颜色不等于真色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8548F22-652F-4DBB-AC2C-C1B825CD2E0F}"/>
              </a:ext>
            </a:extLst>
          </p:cNvPr>
          <p:cNvSpPr>
            <a:spLocks noGrp="1"/>
          </p:cNvSpPr>
          <p:nvPr/>
        </p:nvSpPr>
        <p:spPr>
          <a:xfrm>
            <a:off x="6286500" y="41719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风险｜光谱受灯、物镜NA和相机响应过滤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365562-6312-46DD-8F94-123DDB30EC2C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控制｜白板/暗场校正 + 光谱响应校准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D39C6F-C6EE-48AF-A1F2-DB636ED9024C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实验控制建议综合：Davidson 2002；Olson 2015；Zamora-Perez 2018</a:t>
            </a:r>
          </a:p>
        </p:txBody>
      </p:sp>
    </p:spTree>
    <p:extLst>
      <p:ext uri="{BB962C8B-B14F-4D97-AF65-F5344CB8AC3E}">
        <p14:creationId xmlns:p14="http://schemas.microsoft.com/office/powerpoint/2010/main" val="376872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759202E-9528-417F-9A8D-F156A63890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561E68-B348-4541-B32B-46CE3659FA5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05 展望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6B4813-9921-4686-90B7-8BC9F5959BFA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有效的展望：每条路线都对应一个瓶颈和指标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7042B3E-B3C1-4217-A159-BFE6ED642EF6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33BFC4-62FA-4CF3-AB54-50CFDBEB44B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65CD6D-B316-45CA-994B-E57190DF2C51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C95A5A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D43486-0C9A-4AA4-9589-E09B01322FA1}"/>
              </a:ext>
            </a:extLst>
          </p:cNvPr>
          <p:cNvSpPr>
            <a:spLocks noGrp="1"/>
          </p:cNvSpPr>
          <p:nvPr/>
        </p:nvSpPr>
        <p:spPr>
          <a:xfrm>
            <a:off x="590550" y="162877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背景仍高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A7205A-72F0-40AB-985B-5D9A64CEA8F8}"/>
              </a:ext>
            </a:extLst>
          </p:cNvPr>
          <p:cNvSpPr>
            <a:spLocks noGrp="1"/>
          </p:cNvSpPr>
          <p:nvPr/>
        </p:nvSpPr>
        <p:spPr>
          <a:xfrm>
            <a:off x="1905000" y="15240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更窄的照明体积：TIR、光片、偏振抑制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1EEB30-1EAB-43C7-99AF-07E549DD932D}"/>
              </a:ext>
            </a:extLst>
          </p:cNvPr>
          <p:cNvSpPr>
            <a:spLocks noGrp="1"/>
          </p:cNvSpPr>
          <p:nvPr/>
        </p:nvSpPr>
        <p:spPr>
          <a:xfrm>
            <a:off x="8248650" y="15621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评价指标：SBR / 检出限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84294255-7696-4DFE-B786-E4DCD9ED9CB3}"/>
              </a:ext>
            </a:extLst>
          </p:cNvPr>
          <p:cNvSpPr>
            <a:spLocks noGrp="1"/>
          </p:cNvSpPr>
          <p:nvPr/>
        </p:nvSpPr>
        <p:spPr>
          <a:xfrm>
            <a:off x="1905000" y="2152650"/>
            <a:ext cx="93916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025463A-3E3B-4946-AC09-8DF6E8D5E405}"/>
              </a:ext>
            </a:extLst>
          </p:cNvPr>
          <p:cNvSpPr>
            <a:spLocks noGrp="1"/>
          </p:cNvSpPr>
          <p:nvPr/>
        </p:nvSpPr>
        <p:spPr>
          <a:xfrm>
            <a:off x="514350" y="26670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F57532-55FE-4159-AE12-385F8D2E2E78}"/>
              </a:ext>
            </a:extLst>
          </p:cNvPr>
          <p:cNvSpPr>
            <a:spLocks noGrp="1"/>
          </p:cNvSpPr>
          <p:nvPr/>
        </p:nvSpPr>
        <p:spPr>
          <a:xfrm>
            <a:off x="590550" y="26765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缺少身份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FAC710-8032-4F26-B5EF-6C1252E6C405}"/>
              </a:ext>
            </a:extLst>
          </p:cNvPr>
          <p:cNvSpPr>
            <a:spLocks noGrp="1"/>
          </p:cNvSpPr>
          <p:nvPr/>
        </p:nvSpPr>
        <p:spPr>
          <a:xfrm>
            <a:off x="1905000" y="25717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光谱、抗体或多模态联合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3E7CC2-962D-488F-8C0E-DC751D893C62}"/>
              </a:ext>
            </a:extLst>
          </p:cNvPr>
          <p:cNvSpPr>
            <a:spLocks noGrp="1"/>
          </p:cNvSpPr>
          <p:nvPr/>
        </p:nvSpPr>
        <p:spPr>
          <a:xfrm>
            <a:off x="8248650" y="26098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评价指标：分类准确率 / 特异性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D346106D-83B8-4D43-BA05-4B2A904ACDB2}"/>
              </a:ext>
            </a:extLst>
          </p:cNvPr>
          <p:cNvSpPr>
            <a:spLocks noGrp="1"/>
          </p:cNvSpPr>
          <p:nvPr/>
        </p:nvSpPr>
        <p:spPr>
          <a:xfrm>
            <a:off x="1905000" y="3200400"/>
            <a:ext cx="93916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B0CD170-69F5-4A4D-8A22-230FEEA433F8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FBF0C8-2BBA-4AEA-9317-7CA655D2BBBD}"/>
              </a:ext>
            </a:extLst>
          </p:cNvPr>
          <p:cNvSpPr>
            <a:spLocks noGrp="1"/>
          </p:cNvSpPr>
          <p:nvPr/>
        </p:nvSpPr>
        <p:spPr>
          <a:xfrm>
            <a:off x="590550" y="372427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速度不足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451409-6C6B-45AC-9224-17B0E9559577}"/>
              </a:ext>
            </a:extLst>
          </p:cNvPr>
          <p:cNvSpPr>
            <a:spLocks noGrp="1"/>
          </p:cNvSpPr>
          <p:nvPr/>
        </p:nvSpPr>
        <p:spPr>
          <a:xfrm>
            <a:off x="1905000" y="36195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高亮度光源 + 高速相机 + 在线算法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54DBF7-0CA1-479E-AE24-BEEF5049A53C}"/>
              </a:ext>
            </a:extLst>
          </p:cNvPr>
          <p:cNvSpPr>
            <a:spLocks noGrp="1"/>
          </p:cNvSpPr>
          <p:nvPr/>
        </p:nvSpPr>
        <p:spPr>
          <a:xfrm>
            <a:off x="8248650" y="36576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评价指标：帧率 / 通量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0DF8C6D0-7A15-49C6-BE1E-9B2C294B1B40}"/>
              </a:ext>
            </a:extLst>
          </p:cNvPr>
          <p:cNvSpPr>
            <a:spLocks noGrp="1"/>
          </p:cNvSpPr>
          <p:nvPr/>
        </p:nvSpPr>
        <p:spPr>
          <a:xfrm>
            <a:off x="1905000" y="4248150"/>
            <a:ext cx="93916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81FAF83-5D1C-4E13-BD0D-73277A84D28A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8D7154-B73A-4E37-8A81-58CB1576BC6C}"/>
              </a:ext>
            </a:extLst>
          </p:cNvPr>
          <p:cNvSpPr>
            <a:spLocks noGrp="1"/>
          </p:cNvSpPr>
          <p:nvPr/>
        </p:nvSpPr>
        <p:spPr>
          <a:xfrm>
            <a:off x="590550" y="47720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定量不稳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F81B0C-A3B6-4746-B5A4-C4D5CB5C2735}"/>
              </a:ext>
            </a:extLst>
          </p:cNvPr>
          <p:cNvSpPr>
            <a:spLocks noGrp="1"/>
          </p:cNvSpPr>
          <p:nvPr/>
        </p:nvSpPr>
        <p:spPr>
          <a:xfrm>
            <a:off x="1905000" y="46672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标准样品、物理模型与不确定度报告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9364AE2-E6A9-411A-BAEB-D88668B749D3}"/>
              </a:ext>
            </a:extLst>
          </p:cNvPr>
          <p:cNvSpPr>
            <a:spLocks noGrp="1"/>
          </p:cNvSpPr>
          <p:nvPr/>
        </p:nvSpPr>
        <p:spPr>
          <a:xfrm>
            <a:off x="8248650" y="47053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评价指标：重复性 / 误差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D1327FB8-D17A-4A25-BB2A-1AF514D2E3CD}"/>
              </a:ext>
            </a:extLst>
          </p:cNvPr>
          <p:cNvSpPr>
            <a:spLocks noGrp="1"/>
          </p:cNvSpPr>
          <p:nvPr/>
        </p:nvSpPr>
        <p:spPr>
          <a:xfrm>
            <a:off x="1905000" y="5295900"/>
            <a:ext cx="93916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A63CF91-17EC-414D-B041-E958CC743F21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0782300" cy="400050"/>
          </a:xfrm>
          <a:prstGeom prst="roundRect">
            <a:avLst>
              <a:gd name="adj" fmla="val 19048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0FCD92-0D77-42F5-82AF-F0709DCD0082}"/>
              </a:ext>
            </a:extLst>
          </p:cNvPr>
          <p:cNvSpPr>
            <a:spLocks noGrp="1"/>
          </p:cNvSpPr>
          <p:nvPr/>
        </p:nvSpPr>
        <p:spPr>
          <a:xfrm>
            <a:off x="704850" y="5819775"/>
            <a:ext cx="104013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466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判断“前沿”是否有效：能否把瓶颈转化为可验证的指标，而不是只增加系统复杂度。</a:t>
            </a:r>
          </a:p>
        </p:txBody>
      </p:sp>
    </p:spTree>
    <p:extLst>
      <p:ext uri="{BB962C8B-B14F-4D97-AF65-F5344CB8AC3E}">
        <p14:creationId xmlns:p14="http://schemas.microsoft.com/office/powerpoint/2010/main" val="703091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1372C7D0-5279-4027-8824-D894075EED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4C64F1-FE7C-4A4A-BF22-DEB167F7CB5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06 总结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34F304-A132-4B9E-9DCA-E16236094FA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带走三句话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9C3407C-6655-4EB5-BD16-4714140950C1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FB3DB6-74D6-4648-9828-14F373E412D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5E10988-A53F-462D-AF5E-6AA5A8A15E2E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723900" cy="723900"/>
          </a:xfrm>
          <a:prstGeom prst="ellipse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5DC407-407D-4219-B558-FCC82787DBBD}"/>
              </a:ext>
            </a:extLst>
          </p:cNvPr>
          <p:cNvSpPr>
            <a:spLocks noGrp="1"/>
          </p:cNvSpPr>
          <p:nvPr/>
        </p:nvSpPr>
        <p:spPr>
          <a:xfrm>
            <a:off x="733425" y="1838325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66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EFEC40-BED8-4023-BC8A-B8D2437A6FD7}"/>
              </a:ext>
            </a:extLst>
          </p:cNvPr>
          <p:cNvSpPr>
            <a:spLocks noGrp="1"/>
          </p:cNvSpPr>
          <p:nvPr/>
        </p:nvSpPr>
        <p:spPr>
          <a:xfrm>
            <a:off x="1638300" y="15430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暗场的本质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A1D9FC-725F-4E6A-93C4-798F747B4314}"/>
              </a:ext>
            </a:extLst>
          </p:cNvPr>
          <p:cNvSpPr>
            <a:spLocks noGrp="1"/>
          </p:cNvSpPr>
          <p:nvPr/>
        </p:nvSpPr>
        <p:spPr>
          <a:xfrm>
            <a:off x="1638300" y="2028825"/>
            <a:ext cx="9010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不是把灯调暗，而是让直射光绕开物镜。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98E258-BC1A-4FA0-95E2-CC5E30A7179F}"/>
              </a:ext>
            </a:extLst>
          </p:cNvPr>
          <p:cNvSpPr>
            <a:spLocks noGrp="1"/>
          </p:cNvSpPr>
          <p:nvPr/>
        </p:nvSpPr>
        <p:spPr>
          <a:xfrm>
            <a:off x="590550" y="2971800"/>
            <a:ext cx="723900" cy="72390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B37ABB-31E2-4315-B5E3-86D3A0A78D3A}"/>
              </a:ext>
            </a:extLst>
          </p:cNvPr>
          <p:cNvSpPr>
            <a:spLocks noGrp="1"/>
          </p:cNvSpPr>
          <p:nvPr/>
        </p:nvSpPr>
        <p:spPr>
          <a:xfrm>
            <a:off x="733425" y="3133725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66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798EEE-1B36-41A5-9BD4-18A6313783C3}"/>
              </a:ext>
            </a:extLst>
          </p:cNvPr>
          <p:cNvSpPr>
            <a:spLocks noGrp="1"/>
          </p:cNvSpPr>
          <p:nvPr/>
        </p:nvSpPr>
        <p:spPr>
          <a:xfrm>
            <a:off x="1638300" y="28384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暗场的价值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D25DAE-5CF9-4208-9A1C-700C63A9B3C5}"/>
              </a:ext>
            </a:extLst>
          </p:cNvPr>
          <p:cNvSpPr>
            <a:spLocks noGrp="1"/>
          </p:cNvSpPr>
          <p:nvPr/>
        </p:nvSpPr>
        <p:spPr>
          <a:xfrm>
            <a:off x="1638300" y="3324225"/>
            <a:ext cx="9010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提升弱散射目标的对比度、检出与追踪能力。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8318536-B371-4029-8367-857E2A66FBFB}"/>
              </a:ext>
            </a:extLst>
          </p:cNvPr>
          <p:cNvSpPr>
            <a:spLocks noGrp="1"/>
          </p:cNvSpPr>
          <p:nvPr/>
        </p:nvSpPr>
        <p:spPr>
          <a:xfrm>
            <a:off x="590550" y="4267200"/>
            <a:ext cx="723900" cy="7239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B56BA2-1DFA-4C55-AF9D-67B5E8246DD4}"/>
              </a:ext>
            </a:extLst>
          </p:cNvPr>
          <p:cNvSpPr>
            <a:spLocks noGrp="1"/>
          </p:cNvSpPr>
          <p:nvPr/>
        </p:nvSpPr>
        <p:spPr>
          <a:xfrm>
            <a:off x="733425" y="4429125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66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9FA7BB-8DB1-45B9-B177-D6597F06A662}"/>
              </a:ext>
            </a:extLst>
          </p:cNvPr>
          <p:cNvSpPr>
            <a:spLocks noGrp="1"/>
          </p:cNvSpPr>
          <p:nvPr/>
        </p:nvSpPr>
        <p:spPr>
          <a:xfrm>
            <a:off x="1638300" y="413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AD4A3D-C04A-4239-8D59-CAA824526886}"/>
              </a:ext>
            </a:extLst>
          </p:cNvPr>
          <p:cNvSpPr>
            <a:spLocks noGrp="1"/>
          </p:cNvSpPr>
          <p:nvPr/>
        </p:nvSpPr>
        <p:spPr>
          <a:xfrm>
            <a:off x="1638300" y="4619625"/>
            <a:ext cx="9010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看见不等于分辨；定量必须依赖校正、标定和对照。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36A70E8-4861-402E-BF9F-E585672BC6DD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0782300" cy="590550"/>
          </a:xfrm>
          <a:prstGeom prst="roundRect">
            <a:avLst>
              <a:gd name="adj" fmla="val 12903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B844B8-A596-4F7A-9E4B-75BC6B64BA4B}"/>
              </a:ext>
            </a:extLst>
          </p:cNvPr>
          <p:cNvSpPr>
            <a:spLocks noGrp="1"/>
          </p:cNvSpPr>
          <p:nvPr/>
        </p:nvSpPr>
        <p:spPr>
          <a:xfrm>
            <a:off x="704850" y="5629275"/>
            <a:ext cx="104013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从星空到显微镜：真正重要的不是让目标更亮，而是让背景更安静。</a:t>
            </a:r>
          </a:p>
        </p:txBody>
      </p:sp>
    </p:spTree>
    <p:extLst>
      <p:ext uri="{BB962C8B-B14F-4D97-AF65-F5344CB8AC3E}">
        <p14:creationId xmlns:p14="http://schemas.microsoft.com/office/powerpoint/2010/main" val="7881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A0DF026-2177-4FE9-8DAA-373A51E6EB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349A89-FB0F-4D42-AA1F-5876E2268EB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参考文献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2141F-6229-4C2B-AB9B-E60DBFEB6F4C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核心文献与素材出处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24CFEB3-8F43-44F0-B1F6-CEB92F77C304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0482E6-CF2C-4231-AEBE-7D739A6848B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B693D4-C783-4341-A313-2D8A2D8B9E70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57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基础与综述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7313E2-6589-4D78-8120-5690D1CB50DF}"/>
              </a:ext>
            </a:extLst>
          </p:cNvPr>
          <p:cNvSpPr>
            <a:spLocks noGrp="1"/>
          </p:cNvSpPr>
          <p:nvPr/>
        </p:nvSpPr>
        <p:spPr>
          <a:xfrm>
            <a:off x="514350" y="1943100"/>
            <a:ext cx="5143500" cy="3143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1  Davidson &amp; Abramowitz. Optical Microscopy (2002).</a:t>
            </a:r>
          </a:p>
          <a:p>
            <a:endParaRPr sz="1200" b="0" dirty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2  </a:t>
            </a:r>
            <a:r>
              <a:rPr sz="1200" b="0" dirty="0" err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Siedentopf</a:t>
            </a:r>
            <a:r>
              <a:rPr sz="1200" b="0" dirty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 &amp; Zsigmondy. Ann. </a:t>
            </a: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Phys. 315, 1–39 (1902).</a:t>
            </a:r>
          </a:p>
          <a:p>
            <a:endParaRPr sz="1200" b="0" dirty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3  Zsigmondy. Properties of Colloids, Nobel Lecture (1926).</a:t>
            </a:r>
          </a:p>
          <a:p>
            <a:endParaRPr sz="1200" b="0" dirty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4  Olson et al. Chem. Soc. Rev. 44, 40–57 (2015).</a:t>
            </a:r>
          </a:p>
          <a:p>
            <a:endParaRPr sz="1200" b="0" dirty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5  Priest et al. Chem. Rev. 121, 11937–11970 (2021).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9D9180-9B69-4E3A-A563-9F8DF3AA3237}"/>
              </a:ext>
            </a:extLst>
          </p:cNvPr>
          <p:cNvSpPr>
            <a:spLocks noGrp="1"/>
          </p:cNvSpPr>
          <p:nvPr/>
        </p:nvSpPr>
        <p:spPr>
          <a:xfrm>
            <a:off x="6191250" y="15049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57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应用与前沿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7A3CB0-4261-4FC3-B992-9FCC8ABEF06F}"/>
              </a:ext>
            </a:extLst>
          </p:cNvPr>
          <p:cNvSpPr>
            <a:spLocks noGrp="1"/>
          </p:cNvSpPr>
          <p:nvPr/>
        </p:nvSpPr>
        <p:spPr>
          <a:xfrm>
            <a:off x="6191250" y="1943100"/>
            <a:ext cx="5143500" cy="3143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6  Enoki et al. PLOS ONE 7, e49208 (2012).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7  Meng et al. ACS Photonics 8, 3111–3118 (2021).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8  Zamora-Perez et al. Materials 11, 243 (2018).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9  Li et al. Chinese Optics Letters 15, 081202 (2017).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10 Li et al. ACS Appl. Mater. Interfaces 17, 64027–64047 (2025).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547EA87-6F7D-4C95-8F54-813E7E43D533}"/>
              </a:ext>
            </a:extLst>
          </p:cNvPr>
          <p:cNvSpPr>
            <a:spLocks noGrp="1"/>
          </p:cNvSpPr>
          <p:nvPr/>
        </p:nvSpPr>
        <p:spPr>
          <a:xfrm>
            <a:off x="514350" y="5086350"/>
            <a:ext cx="10782300" cy="857250"/>
          </a:xfrm>
          <a:prstGeom prst="roundRect">
            <a:avLst>
              <a:gd name="adj" fmla="val 12903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ADABFE-A48A-461F-826C-07FC24931B33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104013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文件夹与</a:t>
            </a:r>
            <a:r>
              <a:rPr lang="en-US" altLang="zh-CN"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PPT</a:t>
            </a:r>
            <a:r>
              <a:rPr lang="zh-CN" altLang="en-US"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原件已完整传入</a:t>
            </a:r>
            <a:r>
              <a:rPr lang="en-US" altLang="zh-CN"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Github</a:t>
            </a:r>
            <a:r>
              <a:rPr lang="zh-CN" altLang="en-US"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仓库：</a:t>
            </a:r>
            <a:r>
              <a:rPr lang="en-US" altLang="zh-CN"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https://github.com/Shjdness?tab=repositories</a:t>
            </a:r>
            <a:endParaRPr lang="en-US" sz="1350" b="1" dirty="0">
              <a:solidFill>
                <a:srgbClr val="173B6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完整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DOI、PDF、本地图片授权说明与论文原文均已整理在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A资料区；模板来源见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B工作区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模板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2FEBA2-D6CE-4968-8945-62A3991E7CB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课堂展示请保留图下注明；公开发布前再次核对非开放获取图片许可</a:t>
            </a:r>
          </a:p>
        </p:txBody>
      </p:sp>
    </p:spTree>
    <p:extLst>
      <p:ext uri="{BB962C8B-B14F-4D97-AF65-F5344CB8AC3E}">
        <p14:creationId xmlns:p14="http://schemas.microsoft.com/office/powerpoint/2010/main" val="6377293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1989</Words>
  <Application>Microsoft Office PowerPoint</Application>
  <DocSecurity>0</DocSecurity>
  <PresentationFormat>宽屏</PresentationFormat>
  <Paragraphs>399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正 曹</cp:lastModifiedBy>
  <cp:revision>3</cp:revision>
  <dcterms:created xsi:type="dcterms:W3CDTF">2026-10-06T04:54:43Z</dcterms:created>
  <dcterms:modified xsi:type="dcterms:W3CDTF">2026-10-07T01:19:07Z</dcterms:modified>
</cp:coreProperties>
</file>